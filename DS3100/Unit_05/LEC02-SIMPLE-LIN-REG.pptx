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7" r:id="rId2"/>
    <p:sldId id="391" r:id="rId3"/>
    <p:sldId id="392" r:id="rId4"/>
    <p:sldId id="402" r:id="rId5"/>
    <p:sldId id="403" r:id="rId6"/>
    <p:sldId id="404" r:id="rId7"/>
    <p:sldId id="397" r:id="rId8"/>
    <p:sldId id="398" r:id="rId9"/>
    <p:sldId id="261" r:id="rId10"/>
    <p:sldId id="262" r:id="rId11"/>
    <p:sldId id="399" r:id="rId12"/>
    <p:sldId id="263" r:id="rId13"/>
    <p:sldId id="264" r:id="rId14"/>
    <p:sldId id="400" r:id="rId15"/>
    <p:sldId id="266" r:id="rId16"/>
    <p:sldId id="267" r:id="rId17"/>
    <p:sldId id="268" r:id="rId18"/>
    <p:sldId id="401" r:id="rId19"/>
    <p:sldId id="270" r:id="rId20"/>
    <p:sldId id="40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26"/>
    <p:restoredTop sz="84900"/>
  </p:normalViewPr>
  <p:slideViewPr>
    <p:cSldViewPr snapToGrid="0" snapToObjects="1">
      <p:cViewPr varScale="1">
        <p:scale>
          <a:sx n="102" d="100"/>
          <a:sy n="102" d="100"/>
        </p:scale>
        <p:origin x="1088" y="19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D41FEB-EABE-7A4D-9DC8-0B06D1FA17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1FAE61-B899-1F4B-924E-0C75BA64DB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6FBAE8-9C09-304A-8572-E5D7A531DFEE}" type="datetimeFigureOut">
              <a:rPr lang="en-US" smtClean="0"/>
              <a:t>10/15/26</a:t>
            </a:fld>
            <a:endParaRPr lang="en-US"/>
          </a:p>
        </p:txBody>
      </p:sp>
      <p:sp>
        <p:nvSpPr>
          <p:cNvPr id="4" name="Footer Placeholder 3">
            <a:extLst>
              <a:ext uri="{FF2B5EF4-FFF2-40B4-BE49-F238E27FC236}">
                <a16:creationId xmlns:a16="http://schemas.microsoft.com/office/drawing/2014/main" id="{D6C37DC2-10B2-404A-B7D9-3A7B40146E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530284-2155-8D4D-85CA-D830228413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D9DA0-38FA-7F46-8745-F7AC52ACBA93}" type="slidenum">
              <a:rPr lang="en-US" smtClean="0"/>
              <a:t>‹#›</a:t>
            </a:fld>
            <a:endParaRPr lang="en-US"/>
          </a:p>
        </p:txBody>
      </p:sp>
    </p:spTree>
    <p:extLst>
      <p:ext uri="{BB962C8B-B14F-4D97-AF65-F5344CB8AC3E}">
        <p14:creationId xmlns:p14="http://schemas.microsoft.com/office/powerpoint/2010/main" val="33653329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98534-9EE6-B644-A6D6-B7AC2C83E777}"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4963F9-66F7-DC48-BA92-E6A028F3B77E}" type="slidenum">
              <a:rPr lang="en-US" smtClean="0"/>
              <a:t>‹#›</a:t>
            </a:fld>
            <a:endParaRPr lang="en-US"/>
          </a:p>
        </p:txBody>
      </p:sp>
    </p:spTree>
    <p:extLst>
      <p:ext uri="{BB962C8B-B14F-4D97-AF65-F5344CB8AC3E}">
        <p14:creationId xmlns:p14="http://schemas.microsoft.com/office/powerpoint/2010/main" val="20994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a:lstStyle/>
          <a:p>
            <a:endParaRPr lang="en-US" dirty="0">
              <a:ea typeface="ＭＳ Ｐゴシック" charset="-128"/>
              <a:cs typeface="ＭＳ Ｐゴシック" charset="-128"/>
            </a:endParaRPr>
          </a:p>
          <a:p>
            <a:endParaRPr lang="en-US" dirty="0">
              <a:ea typeface="ＭＳ Ｐゴシック" charset="-128"/>
              <a:cs typeface="ＭＳ Ｐゴシック" charset="-128"/>
            </a:endParaRPr>
          </a:p>
        </p:txBody>
      </p:sp>
      <p:sp>
        <p:nvSpPr>
          <p:cNvPr id="17412" name="Slide Number Placeholder 3"/>
          <p:cNvSpPr>
            <a:spLocks noGrp="1"/>
          </p:cNvSpPr>
          <p:nvPr>
            <p:ph type="sldNum" sz="quarter" idx="5"/>
          </p:nvPr>
        </p:nvSpPr>
        <p:spPr bwMode="auto">
          <a:noFill/>
          <a:ln>
            <a:miter lim="800000"/>
            <a:headEnd/>
            <a:tailEnd/>
          </a:ln>
        </p:spPr>
        <p:txBody>
          <a:bodyPr/>
          <a:lstStyle/>
          <a:p>
            <a:fld id="{F2DC69FE-82EB-ED4A-895C-6DF3FE534FB7}"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92251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2</a:t>
            </a:fld>
            <a:endParaRPr lang="en-US"/>
          </a:p>
        </p:txBody>
      </p:sp>
    </p:spTree>
    <p:extLst>
      <p:ext uri="{BB962C8B-B14F-4D97-AF65-F5344CB8AC3E}">
        <p14:creationId xmlns:p14="http://schemas.microsoft.com/office/powerpoint/2010/main" val="36104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14963F9-66F7-DC48-BA92-E6A028F3B77E}" type="slidenum">
              <a:rPr lang="en-US" smtClean="0"/>
              <a:t>4</a:t>
            </a:fld>
            <a:endParaRPr lang="en-US"/>
          </a:p>
        </p:txBody>
      </p:sp>
    </p:spTree>
    <p:extLst>
      <p:ext uri="{BB962C8B-B14F-4D97-AF65-F5344CB8AC3E}">
        <p14:creationId xmlns:p14="http://schemas.microsoft.com/office/powerpoint/2010/main" val="213985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5</a:t>
            </a:fld>
            <a:endParaRPr lang="en-US"/>
          </a:p>
        </p:txBody>
      </p:sp>
    </p:spTree>
    <p:extLst>
      <p:ext uri="{BB962C8B-B14F-4D97-AF65-F5344CB8AC3E}">
        <p14:creationId xmlns:p14="http://schemas.microsoft.com/office/powerpoint/2010/main" val="267469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6</a:t>
            </a:fld>
            <a:endParaRPr lang="en-US"/>
          </a:p>
        </p:txBody>
      </p:sp>
    </p:spTree>
    <p:extLst>
      <p:ext uri="{BB962C8B-B14F-4D97-AF65-F5344CB8AC3E}">
        <p14:creationId xmlns:p14="http://schemas.microsoft.com/office/powerpoint/2010/main" val="531450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7</a:t>
            </a:fld>
            <a:endParaRPr lang="en-US"/>
          </a:p>
        </p:txBody>
      </p:sp>
    </p:spTree>
    <p:extLst>
      <p:ext uri="{BB962C8B-B14F-4D97-AF65-F5344CB8AC3E}">
        <p14:creationId xmlns:p14="http://schemas.microsoft.com/office/powerpoint/2010/main" val="157273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8</a:t>
            </a:fld>
            <a:endParaRPr lang="en-US"/>
          </a:p>
        </p:txBody>
      </p:sp>
    </p:spTree>
    <p:extLst>
      <p:ext uri="{BB962C8B-B14F-4D97-AF65-F5344CB8AC3E}">
        <p14:creationId xmlns:p14="http://schemas.microsoft.com/office/powerpoint/2010/main" val="16615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660452ab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660452ab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 baseline solution to this problem would be to draw a line through the mean of the output axis.</a:t>
            </a:r>
            <a:endParaRPr dirty="0"/>
          </a:p>
          <a:p>
            <a:pPr marL="0" lvl="0" indent="0" algn="l" rtl="0">
              <a:spcBef>
                <a:spcPts val="0"/>
              </a:spcBef>
              <a:spcAft>
                <a:spcPts val="0"/>
              </a:spcAft>
              <a:buNone/>
            </a:pPr>
            <a:r>
              <a:rPr lang="en" dirty="0"/>
              <a:t>In our running example the mean fit would be a line that always predicts the mean sample weight for all mice sizes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660452ab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660452ab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660452ab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660452ab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0529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4660452ab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4660452ab5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4660452ab5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4660452ab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refer to the supplementary notes at this point.</a:t>
            </a:r>
          </a:p>
        </p:txBody>
      </p:sp>
      <p:sp>
        <p:nvSpPr>
          <p:cNvPr id="4" name="Slide Number Placeholder 3"/>
          <p:cNvSpPr>
            <a:spLocks noGrp="1"/>
          </p:cNvSpPr>
          <p:nvPr>
            <p:ph type="sldNum" sz="quarter" idx="5"/>
          </p:nvPr>
        </p:nvSpPr>
        <p:spPr/>
        <p:txBody>
          <a:bodyPr/>
          <a:lstStyle/>
          <a:p>
            <a:fld id="{214963F9-66F7-DC48-BA92-E6A028F3B77E}" type="slidenum">
              <a:rPr lang="en-US" smtClean="0"/>
              <a:t>14</a:t>
            </a:fld>
            <a:endParaRPr lang="en-US"/>
          </a:p>
        </p:txBody>
      </p:sp>
    </p:spTree>
    <p:extLst>
      <p:ext uri="{BB962C8B-B14F-4D97-AF65-F5344CB8AC3E}">
        <p14:creationId xmlns:p14="http://schemas.microsoft.com/office/powerpoint/2010/main" val="862003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4660452ab5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4660452ab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key difference is that the </a:t>
            </a:r>
            <a:r>
              <a:rPr lang="en-US" b="1" dirty="0"/>
              <a:t>sum of squared residuals (SSR/SSE)</a:t>
            </a:r>
            <a:r>
              <a:rPr lang="en-US" dirty="0"/>
              <a:t> tells us how much error the fitted model has, whereas a </a:t>
            </a:r>
            <a:r>
              <a:rPr lang="en-US" b="1" dirty="0"/>
              <a:t>goodness-of-fit measure such as R^2</a:t>
            </a:r>
            <a:r>
              <a:rPr lang="en-US" dirty="0"/>
              <a:t> tells us how large that error is </a:t>
            </a:r>
            <a:r>
              <a:rPr lang="en-US" b="1" dirty="0"/>
              <a:t>relative to how much variation there was to explain in the first place</a:t>
            </a:r>
            <a:r>
              <a:rPr lang="en-US" dirty="0"/>
              <a:t>.</a:t>
            </a:r>
            <a:endParaRPr baseline="30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4660452ab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4660452ab5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how do we measure R</a:t>
            </a:r>
            <a:r>
              <a:rPr lang="en" baseline="30000" dirty="0"/>
              <a:t>2</a:t>
            </a:r>
            <a:r>
              <a:rPr lang="en" dirty="0"/>
              <a:t>? </a:t>
            </a:r>
          </a:p>
          <a:p>
            <a:pPr marL="628650" lvl="1" indent="-171450" algn="l" rtl="0">
              <a:spcBef>
                <a:spcPts val="0"/>
              </a:spcBef>
              <a:spcAft>
                <a:spcPts val="0"/>
              </a:spcAft>
              <a:buFont typeface="Arial" panose="020B0604020202020204" pitchFamily="34" charset="0"/>
              <a:buChar char="•"/>
            </a:pPr>
            <a:r>
              <a:rPr lang="en" dirty="0"/>
              <a:t>We compare our fit to the mean fit that we can get. So if you recall the mean fit is predicting the mean y value that we estimate from our samples. This is the intercept only model. We calculate the sum of squared residuals from the mean fit and the variance over it. </a:t>
            </a:r>
          </a:p>
          <a:p>
            <a:pPr marL="628650" lvl="1" indent="-171450" algn="l" rtl="0">
              <a:spcBef>
                <a:spcPts val="0"/>
              </a:spcBef>
              <a:spcAft>
                <a:spcPts val="0"/>
              </a:spcAft>
              <a:buFont typeface="Arial" panose="020B0604020202020204" pitchFamily="34" charset="0"/>
              <a:buChar char="•"/>
            </a:pPr>
            <a:r>
              <a:rPr lang="en" dirty="0"/>
              <a:t>We also calculate both of these metrics over the optimal fit. The mean fit displays the raw variation in mouse weight while we also get the variation in predicted weight around the least squares line. </a:t>
            </a:r>
          </a:p>
          <a:p>
            <a:pPr marL="0" lvl="0" indent="0" algn="l" rtl="0">
              <a:spcBef>
                <a:spcPts val="0"/>
              </a:spcBef>
              <a:spcAft>
                <a:spcPts val="0"/>
              </a:spcAft>
              <a:buNone/>
            </a:pPr>
            <a:r>
              <a:rPr lang="en" dirty="0"/>
              <a:t>As is expected an optimal fit will produce less variation around the data vs just the mean fit. Basically what it implies is that some variation in mouse weight can be explained by taking mouse size into account.</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4660452ab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4660452ab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solidFill>
                  <a:schemeClr val="dk1"/>
                </a:solidFill>
              </a:rPr>
              <a:t>Consider the hypothetical case of having only two measurements in our dataset. In that case we will be able to fit any line through two data points where the sum of squared residuals will be 0 and we will achieve a perfect fit. This is great but it </a:t>
            </a:r>
            <a:r>
              <a:rPr lang="en" dirty="0" err="1">
                <a:solidFill>
                  <a:schemeClr val="dk1"/>
                </a:solidFill>
              </a:rPr>
              <a:t>doesnt</a:t>
            </a:r>
            <a:r>
              <a:rPr lang="en" dirty="0">
                <a:solidFill>
                  <a:schemeClr val="dk1"/>
                </a:solidFill>
              </a:rPr>
              <a:t> imply any learning. So we need a way to gauge the statistical significance of our fit or the R-squared value obtained by the fit. </a:t>
            </a:r>
          </a:p>
          <a:p>
            <a:endParaRPr lang="en"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 the context of multiple linear regression, an </a:t>
            </a:r>
            <a:r>
              <a:rPr lang="en-US" sz="1200" b="1" u="none" strike="noStrike" kern="1200" dirty="0">
                <a:solidFill>
                  <a:schemeClr val="tx1"/>
                </a:solidFill>
                <a:effectLst/>
                <a:latin typeface="+mn-lt"/>
                <a:ea typeface="+mn-ea"/>
                <a:cs typeface="+mn-cs"/>
              </a:rPr>
              <a:t>overall regression</a:t>
            </a:r>
            <a:r>
              <a:rPr lang="en-US" sz="1200" b="0" u="none" strike="noStrike" kern="1200" dirty="0">
                <a:solidFill>
                  <a:schemeClr val="tx1"/>
                </a:solidFill>
                <a:effectLst/>
                <a:latin typeface="+mn-lt"/>
                <a:ea typeface="+mn-ea"/>
                <a:cs typeface="+mn-cs"/>
              </a:rPr>
              <a:t> refers to testing the entire predictive model at once, rather than looking at individual predictors one by one. </a:t>
            </a:r>
            <a:r>
              <a:rPr lang="en-US" dirty="0"/>
              <a:t>When you run an overall regression test (also known as the </a:t>
            </a:r>
            <a:r>
              <a:rPr lang="en-US" sz="1200" b="1" u="none" strike="noStrike" kern="1200" dirty="0">
                <a:solidFill>
                  <a:schemeClr val="tx1"/>
                </a:solidFill>
                <a:effectLst/>
                <a:latin typeface="+mn-lt"/>
                <a:ea typeface="+mn-ea"/>
                <a:cs typeface="+mn-cs"/>
              </a:rPr>
              <a:t>global (F)-test</a:t>
            </a:r>
            <a:r>
              <a:rPr lang="en-US" dirty="0"/>
              <a:t>), you are asking: </a:t>
            </a:r>
            <a:r>
              <a:rPr lang="en-US" sz="1200" b="0" i="1" u="none" strike="noStrike" kern="1200" dirty="0">
                <a:solidFill>
                  <a:schemeClr val="tx1"/>
                </a:solidFill>
                <a:effectLst/>
                <a:latin typeface="+mn-lt"/>
                <a:ea typeface="+mn-ea"/>
                <a:cs typeface="+mn-cs"/>
              </a:rPr>
              <a:t>"Does this group of independent variables, working together, explain a statistically significant amount of variance in the dependent variable?” </a:t>
            </a:r>
            <a:r>
              <a:rPr lang="en-US" dirty="0"/>
              <a:t>The null hypothesis states that </a:t>
            </a:r>
            <a:r>
              <a:rPr lang="en-US" sz="1200" b="0" i="1" u="none" strike="noStrike" kern="1200" dirty="0">
                <a:solidFill>
                  <a:schemeClr val="tx1"/>
                </a:solidFill>
                <a:effectLst/>
                <a:latin typeface="+mn-lt"/>
                <a:ea typeface="+mn-ea"/>
                <a:cs typeface="+mn-cs"/>
              </a:rPr>
              <a:t>all</a:t>
            </a:r>
            <a:r>
              <a:rPr lang="en-US" dirty="0"/>
              <a:t> slope coefficients are zero </a:t>
            </a:r>
            <a:endParaRPr lang="en-US" sz="1200" b="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14963F9-66F7-DC48-BA92-E6A028F3B77E}" type="slidenum">
              <a:rPr lang="en-US" smtClean="0"/>
              <a:t>18</a:t>
            </a:fld>
            <a:endParaRPr lang="en-US"/>
          </a:p>
        </p:txBody>
      </p:sp>
    </p:spTree>
    <p:extLst>
      <p:ext uri="{BB962C8B-B14F-4D97-AF65-F5344CB8AC3E}">
        <p14:creationId xmlns:p14="http://schemas.microsoft.com/office/powerpoint/2010/main" val="1865130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4660452ab5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4660452ab5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8108FA6-DC2F-7748-B1B3-FA5FC0E93925}"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7914471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1315695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108FA6-DC2F-7748-B1B3-FA5FC0E93925}"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739296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108FA6-DC2F-7748-B1B3-FA5FC0E93925}"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5109722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108FA6-DC2F-7748-B1B3-FA5FC0E93925}" type="datetimeFigureOut">
              <a:rPr lang="en-US" smtClean="0"/>
              <a:t>10/15/26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231316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108FA6-DC2F-7748-B1B3-FA5FC0E93925}" type="datetimeFigureOut">
              <a:rPr lang="en-US" smtClean="0"/>
              <a:t>10/15/26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4467718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108FA6-DC2F-7748-B1B3-FA5FC0E93925}" type="datetimeFigureOut">
              <a:rPr lang="en-US" smtClean="0"/>
              <a:t>10/15/26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20844635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08FA6-DC2F-7748-B1B3-FA5FC0E93925}"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6780841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08FA6-DC2F-7748-B1B3-FA5FC0E93925}"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6569175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5994302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7785077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609600" y="274637"/>
            <a:ext cx="8940800" cy="901200"/>
          </a:xfrm>
          <a:prstGeom prst="rect">
            <a:avLst/>
          </a:prstGeom>
          <a:noFill/>
          <a:ln>
            <a:noFill/>
          </a:ln>
        </p:spPr>
        <p:txBody>
          <a:bodyPr spcFirstLastPara="1" wrap="square" lIns="91425" tIns="91425" rIns="91425" bIns="91425" anchor="b" anchorCtr="0"/>
          <a:lstStyle>
            <a:lvl1pPr lvl="0" algn="l" rtl="0">
              <a:spcBef>
                <a:spcPts val="0"/>
              </a:spcBef>
              <a:spcAft>
                <a:spcPts val="0"/>
              </a:spcAft>
              <a:buSzPts val="3600"/>
              <a:buFont typeface="Arial"/>
              <a:buNone/>
              <a:defRPr sz="4800" b="1">
                <a:latin typeface="Arial"/>
                <a:ea typeface="Arial"/>
                <a:cs typeface="Arial"/>
                <a:sym typeface="Arial"/>
              </a:defRPr>
            </a:lvl1pPr>
            <a:lvl2pPr lvl="1" algn="l" rtl="0">
              <a:spcBef>
                <a:spcPts val="0"/>
              </a:spcBef>
              <a:spcAft>
                <a:spcPts val="0"/>
              </a:spcAft>
              <a:buSzPts val="3600"/>
              <a:buFont typeface="Arial"/>
              <a:buNone/>
              <a:defRPr sz="4800" b="1">
                <a:solidFill>
                  <a:schemeClr val="dk2"/>
                </a:solidFill>
                <a:latin typeface="Arial"/>
                <a:ea typeface="Arial"/>
                <a:cs typeface="Arial"/>
                <a:sym typeface="Arial"/>
              </a:defRPr>
            </a:lvl2pPr>
            <a:lvl3pPr lvl="2" algn="l" rtl="0">
              <a:spcBef>
                <a:spcPts val="0"/>
              </a:spcBef>
              <a:spcAft>
                <a:spcPts val="0"/>
              </a:spcAft>
              <a:buSzPts val="3600"/>
              <a:buFont typeface="Arial"/>
              <a:buNone/>
              <a:defRPr sz="4800" b="1">
                <a:solidFill>
                  <a:schemeClr val="dk2"/>
                </a:solidFill>
                <a:latin typeface="Arial"/>
                <a:ea typeface="Arial"/>
                <a:cs typeface="Arial"/>
                <a:sym typeface="Arial"/>
              </a:defRPr>
            </a:lvl3pPr>
            <a:lvl4pPr lvl="3" algn="l" rtl="0">
              <a:spcBef>
                <a:spcPts val="0"/>
              </a:spcBef>
              <a:spcAft>
                <a:spcPts val="0"/>
              </a:spcAft>
              <a:buSzPts val="3600"/>
              <a:buFont typeface="Arial"/>
              <a:buNone/>
              <a:defRPr sz="4800" b="1">
                <a:solidFill>
                  <a:schemeClr val="dk2"/>
                </a:solidFill>
                <a:latin typeface="Arial"/>
                <a:ea typeface="Arial"/>
                <a:cs typeface="Arial"/>
                <a:sym typeface="Arial"/>
              </a:defRPr>
            </a:lvl4pPr>
            <a:lvl5pPr lvl="4" algn="l" rtl="0">
              <a:spcBef>
                <a:spcPts val="0"/>
              </a:spcBef>
              <a:spcAft>
                <a:spcPts val="0"/>
              </a:spcAft>
              <a:buSzPts val="3600"/>
              <a:buFont typeface="Arial"/>
              <a:buNone/>
              <a:defRPr sz="4800" b="1">
                <a:solidFill>
                  <a:schemeClr val="dk2"/>
                </a:solidFill>
                <a:latin typeface="Arial"/>
                <a:ea typeface="Arial"/>
                <a:cs typeface="Arial"/>
                <a:sym typeface="Arial"/>
              </a:defRPr>
            </a:lvl5pPr>
            <a:lvl6pPr lvl="5" algn="l" rtl="0">
              <a:spcBef>
                <a:spcPts val="0"/>
              </a:spcBef>
              <a:spcAft>
                <a:spcPts val="0"/>
              </a:spcAft>
              <a:buSzPts val="3600"/>
              <a:buFont typeface="Arial"/>
              <a:buNone/>
              <a:defRPr sz="4800" b="1">
                <a:solidFill>
                  <a:schemeClr val="dk2"/>
                </a:solidFill>
                <a:latin typeface="Arial"/>
                <a:ea typeface="Arial"/>
                <a:cs typeface="Arial"/>
                <a:sym typeface="Arial"/>
              </a:defRPr>
            </a:lvl6pPr>
            <a:lvl7pPr lvl="6" algn="l" rtl="0">
              <a:spcBef>
                <a:spcPts val="0"/>
              </a:spcBef>
              <a:spcAft>
                <a:spcPts val="0"/>
              </a:spcAft>
              <a:buSzPts val="3600"/>
              <a:buFont typeface="Arial"/>
              <a:buNone/>
              <a:defRPr sz="4800" b="1">
                <a:solidFill>
                  <a:schemeClr val="dk2"/>
                </a:solidFill>
                <a:latin typeface="Arial"/>
                <a:ea typeface="Arial"/>
                <a:cs typeface="Arial"/>
                <a:sym typeface="Arial"/>
              </a:defRPr>
            </a:lvl7pPr>
            <a:lvl8pPr lvl="7" algn="l" rtl="0">
              <a:spcBef>
                <a:spcPts val="0"/>
              </a:spcBef>
              <a:spcAft>
                <a:spcPts val="0"/>
              </a:spcAft>
              <a:buSzPts val="3600"/>
              <a:buFont typeface="Arial"/>
              <a:buNone/>
              <a:defRPr sz="4800" b="1">
                <a:solidFill>
                  <a:schemeClr val="dk2"/>
                </a:solidFill>
                <a:latin typeface="Arial"/>
                <a:ea typeface="Arial"/>
                <a:cs typeface="Arial"/>
                <a:sym typeface="Arial"/>
              </a:defRPr>
            </a:lvl8pPr>
            <a:lvl9pPr lvl="8" algn="l" rtl="0">
              <a:spcBef>
                <a:spcPts val="0"/>
              </a:spcBef>
              <a:spcAft>
                <a:spcPts val="0"/>
              </a:spcAft>
              <a:buSzPts val="3600"/>
              <a:buFont typeface="Arial"/>
              <a:buNone/>
              <a:defRPr sz="4800" b="1">
                <a:solidFill>
                  <a:schemeClr val="dk2"/>
                </a:solidFill>
                <a:latin typeface="Arial"/>
                <a:ea typeface="Arial"/>
                <a:cs typeface="Arial"/>
                <a:sym typeface="Arial"/>
              </a:defRPr>
            </a:lvl9pPr>
          </a:lstStyle>
          <a:p>
            <a:endParaRPr/>
          </a:p>
        </p:txBody>
      </p:sp>
      <p:cxnSp>
        <p:nvCxnSpPr>
          <p:cNvPr id="71" name="Google Shape;71;p15"/>
          <p:cNvCxnSpPr/>
          <p:nvPr/>
        </p:nvCxnSpPr>
        <p:spPr>
          <a:xfrm>
            <a:off x="609600" y="1175787"/>
            <a:ext cx="10972800" cy="0"/>
          </a:xfrm>
          <a:prstGeom prst="straightConnector1">
            <a:avLst/>
          </a:prstGeom>
          <a:noFill/>
          <a:ln w="9525" cap="flat" cmpd="sng">
            <a:solidFill>
              <a:srgbClr val="CCCCCC"/>
            </a:solidFill>
            <a:prstDash val="solid"/>
            <a:round/>
            <a:headEnd type="none" w="med" len="med"/>
            <a:tailEnd type="none" w="med" len="med"/>
          </a:ln>
        </p:spPr>
      </p:cxnSp>
      <p:cxnSp>
        <p:nvCxnSpPr>
          <p:cNvPr id="72" name="Google Shape;72;p15"/>
          <p:cNvCxnSpPr/>
          <p:nvPr/>
        </p:nvCxnSpPr>
        <p:spPr>
          <a:xfrm>
            <a:off x="609600" y="6324600"/>
            <a:ext cx="10972800" cy="0"/>
          </a:xfrm>
          <a:prstGeom prst="straightConnector1">
            <a:avLst/>
          </a:prstGeom>
          <a:noFill/>
          <a:ln w="9525" cap="flat" cmpd="sng">
            <a:solidFill>
              <a:srgbClr val="CCCCCC"/>
            </a:solidFill>
            <a:prstDash val="solid"/>
            <a:round/>
            <a:headEnd type="none" w="med" len="med"/>
            <a:tailEnd type="none" w="med" len="med"/>
          </a:ln>
        </p:spPr>
      </p:cxnSp>
      <p:sp>
        <p:nvSpPr>
          <p:cNvPr id="73" name="Google Shape;73;p15"/>
          <p:cNvSpPr txBox="1">
            <a:spLocks noGrp="1"/>
          </p:cNvSpPr>
          <p:nvPr>
            <p:ph type="body" idx="1"/>
          </p:nvPr>
        </p:nvSpPr>
        <p:spPr>
          <a:xfrm>
            <a:off x="609600" y="1295400"/>
            <a:ext cx="10972800" cy="4830800"/>
          </a:xfrm>
          <a:prstGeom prst="rect">
            <a:avLst/>
          </a:prstGeom>
          <a:noFill/>
          <a:ln>
            <a:noFill/>
          </a:ln>
        </p:spPr>
        <p:txBody>
          <a:bodyPr spcFirstLastPara="1" wrap="square" lIns="91425" tIns="91425" rIns="91425" bIns="91425" anchor="t" anchorCtr="0"/>
          <a:lstStyle>
            <a:lvl1pPr marL="609585" lvl="0" indent="-507987" rtl="0">
              <a:spcBef>
                <a:spcPts val="0"/>
              </a:spcBef>
              <a:spcAft>
                <a:spcPts val="0"/>
              </a:spcAft>
              <a:buSzPts val="2400"/>
              <a:buChar char="●"/>
              <a:defRPr sz="3200"/>
            </a:lvl1pPr>
            <a:lvl2pPr marL="1219170" lvl="1" indent="-507987" rtl="0">
              <a:spcBef>
                <a:spcPts val="533"/>
              </a:spcBef>
              <a:spcAft>
                <a:spcPts val="0"/>
              </a:spcAft>
              <a:buSzPts val="2400"/>
              <a:buChar char="○"/>
              <a:defRPr sz="3200"/>
            </a:lvl2pPr>
            <a:lvl3pPr marL="1828754" lvl="2" indent="-507987" rtl="0">
              <a:spcBef>
                <a:spcPts val="533"/>
              </a:spcBef>
              <a:spcAft>
                <a:spcPts val="0"/>
              </a:spcAft>
              <a:buSzPts val="2400"/>
              <a:buChar char="■"/>
              <a:defRPr sz="3200"/>
            </a:lvl3pPr>
            <a:lvl4pPr marL="2438339" lvl="3" indent="-457189" rtl="0">
              <a:spcBef>
                <a:spcPts val="533"/>
              </a:spcBef>
              <a:spcAft>
                <a:spcPts val="0"/>
              </a:spcAft>
              <a:buSzPts val="1800"/>
              <a:buChar char="●"/>
              <a:defRPr sz="2400"/>
            </a:lvl4pPr>
            <a:lvl5pPr marL="3047924" lvl="4" indent="-457189" rtl="0">
              <a:spcBef>
                <a:spcPts val="533"/>
              </a:spcBef>
              <a:spcAft>
                <a:spcPts val="0"/>
              </a:spcAft>
              <a:buSzPts val="1800"/>
              <a:buChar char="○"/>
              <a:defRPr sz="2400"/>
            </a:lvl5pPr>
            <a:lvl6pPr marL="3657509" lvl="5" indent="-457189" rtl="0">
              <a:spcBef>
                <a:spcPts val="533"/>
              </a:spcBef>
              <a:spcAft>
                <a:spcPts val="0"/>
              </a:spcAft>
              <a:buSzPts val="1800"/>
              <a:buChar char="■"/>
              <a:defRPr sz="2400"/>
            </a:lvl6pPr>
            <a:lvl7pPr marL="4267093" lvl="6" indent="-457189" rtl="0">
              <a:spcBef>
                <a:spcPts val="533"/>
              </a:spcBef>
              <a:spcAft>
                <a:spcPts val="0"/>
              </a:spcAft>
              <a:buSzPts val="1800"/>
              <a:buChar char="●"/>
              <a:defRPr sz="2400"/>
            </a:lvl7pPr>
            <a:lvl8pPr marL="4876678" lvl="7" indent="-457189" rtl="0">
              <a:spcBef>
                <a:spcPts val="533"/>
              </a:spcBef>
              <a:spcAft>
                <a:spcPts val="0"/>
              </a:spcAft>
              <a:buSzPts val="1800"/>
              <a:buChar char="○"/>
              <a:defRPr sz="2400"/>
            </a:lvl8pPr>
            <a:lvl9pPr marL="5486263" lvl="8" indent="-457189" rtl="0">
              <a:spcBef>
                <a:spcPts val="533"/>
              </a:spcBef>
              <a:spcAft>
                <a:spcPts val="533"/>
              </a:spcAft>
              <a:buSzPts val="1800"/>
              <a:buChar char="■"/>
              <a:defRPr sz="2400"/>
            </a:lvl9pPr>
          </a:lstStyle>
          <a:p>
            <a:endParaRPr/>
          </a:p>
        </p:txBody>
      </p:sp>
    </p:spTree>
    <p:extLst>
      <p:ext uri="{BB962C8B-B14F-4D97-AF65-F5344CB8AC3E}">
        <p14:creationId xmlns:p14="http://schemas.microsoft.com/office/powerpoint/2010/main" val="2837409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08FA6-DC2F-7748-B1B3-FA5FC0E93925}" type="datetimeFigureOut">
              <a:rPr lang="en-US" smtClean="0"/>
              <a:t>10/15/26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3FC03-ECE3-C749-A9FB-5F48D922CB6C}" type="slidenum">
              <a:rPr lang="en-US" smtClean="0"/>
              <a:t>‹#›</a:t>
            </a:fld>
            <a:endParaRPr lang="en-US"/>
          </a:p>
        </p:txBody>
      </p:sp>
    </p:spTree>
    <p:extLst>
      <p:ext uri="{BB962C8B-B14F-4D97-AF65-F5344CB8AC3E}">
        <p14:creationId xmlns:p14="http://schemas.microsoft.com/office/powerpoint/2010/main" val="1222001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1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hyperlink" Target="https://www.stat.purdue.edu/~lfindsen/stat503/F_alpha_05.pdf"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BEBA8EAE-BF5A-486C-A8C5-ECC9F3942E4B}">
                <a14:imgProps xmlns:a14="http://schemas.microsoft.com/office/drawing/2010/main">
                  <a14:imgLayer r:embed="rId4">
                    <a14:imgEffect>
                      <a14:artisticLineDrawing/>
                    </a14:imgEffect>
                  </a14:imgLayer>
                </a14:imgProps>
              </a:ext>
              <a:ext uri="{28A0092B-C50C-407E-A947-70E740481C1C}">
                <a14:useLocalDpi xmlns:a14="http://schemas.microsoft.com/office/drawing/2010/main" val="0"/>
              </a:ext>
            </a:extLst>
          </a:blip>
          <a:srcRect l="4152" t="28402" r="4342" b="11302"/>
          <a:stretch/>
        </p:blipFill>
        <p:spPr>
          <a:xfrm>
            <a:off x="898659" y="1249066"/>
            <a:ext cx="10584556" cy="4467069"/>
          </a:xfrm>
          <a:prstGeom prst="rect">
            <a:avLst/>
          </a:prstGeom>
        </p:spPr>
      </p:pic>
      <p:sp>
        <p:nvSpPr>
          <p:cNvPr id="10" name="Title 3"/>
          <p:cNvSpPr>
            <a:spLocks noGrp="1"/>
          </p:cNvSpPr>
          <p:nvPr>
            <p:ph type="ctrTitle"/>
          </p:nvPr>
        </p:nvSpPr>
        <p:spPr>
          <a:xfrm>
            <a:off x="1079292" y="2088788"/>
            <a:ext cx="10223291" cy="1241910"/>
          </a:xfrm>
          <a:solidFill>
            <a:schemeClr val="bg1">
              <a:alpha val="80000"/>
            </a:schemeClr>
          </a:solidFill>
        </p:spPr>
        <p:txBody>
          <a:bodyPr>
            <a:normAutofit fontScale="90000"/>
          </a:bodyPr>
          <a:lstStyle/>
          <a:p>
            <a:r>
              <a:rPr lang="en-US" sz="4800" dirty="0"/>
              <a:t>Unit 5 </a:t>
            </a:r>
            <a:r>
              <a:rPr lang="mr-IN" sz="4800" dirty="0"/>
              <a:t>–</a:t>
            </a:r>
            <a:r>
              <a:rPr lang="en-US" sz="4800" dirty="0"/>
              <a:t> Prediction with</a:t>
            </a:r>
            <a:br>
              <a:rPr lang="en-US" sz="4800" dirty="0"/>
            </a:br>
            <a:r>
              <a:rPr lang="en-US" sz="4800" dirty="0"/>
              <a:t>Simple Linear Regression</a:t>
            </a:r>
            <a:endParaRPr lang="en-US" sz="4800" dirty="0">
              <a:ea typeface="ＭＳ Ｐゴシック" charset="-128"/>
              <a:cs typeface="ＭＳ Ｐゴシック" charset="-128"/>
            </a:endParaRPr>
          </a:p>
        </p:txBody>
      </p:sp>
      <p:sp>
        <p:nvSpPr>
          <p:cNvPr id="11" name="TextBox 10"/>
          <p:cNvSpPr txBox="1"/>
          <p:nvPr/>
        </p:nvSpPr>
        <p:spPr>
          <a:xfrm>
            <a:off x="-698500" y="787401"/>
            <a:ext cx="184666" cy="461665"/>
          </a:xfrm>
          <a:prstGeom prst="rect">
            <a:avLst/>
          </a:prstGeom>
          <a:noFill/>
        </p:spPr>
        <p:txBody>
          <a:bodyPr wrap="none" rtlCol="0">
            <a:spAutoFit/>
          </a:bodyPr>
          <a:lstStyle/>
          <a:p>
            <a:pPr fontAlgn="base">
              <a:spcBef>
                <a:spcPct val="0"/>
              </a:spcBef>
              <a:spcAft>
                <a:spcPct val="0"/>
              </a:spcAft>
            </a:pPr>
            <a:endParaRPr lang="en-US" sz="2400" dirty="0">
              <a:solidFill>
                <a:prstClr val="black"/>
              </a:solidFill>
              <a:latin typeface="Corbel"/>
              <a:ea typeface="ＭＳ Ｐゴシック" charset="-128"/>
              <a:cs typeface="ＭＳ Ｐゴシック" charset="-128"/>
            </a:endParaRPr>
          </a:p>
        </p:txBody>
      </p:sp>
      <p:sp>
        <p:nvSpPr>
          <p:cNvPr id="2" name="TextBox 1"/>
          <p:cNvSpPr txBox="1"/>
          <p:nvPr/>
        </p:nvSpPr>
        <p:spPr>
          <a:xfrm>
            <a:off x="3593045" y="3482600"/>
            <a:ext cx="5005922" cy="461665"/>
          </a:xfrm>
          <a:prstGeom prst="rect">
            <a:avLst/>
          </a:prstGeom>
          <a:solidFill>
            <a:schemeClr val="bg1">
              <a:alpha val="80000"/>
            </a:schemeClr>
          </a:solidFill>
        </p:spPr>
        <p:txBody>
          <a:bodyPr wrap="none" rtlCol="0">
            <a:spAutoFit/>
          </a:bodyPr>
          <a:lstStyle/>
          <a:p>
            <a:pPr algn="ctr" fontAlgn="base">
              <a:spcBef>
                <a:spcPct val="0"/>
              </a:spcBef>
              <a:spcAft>
                <a:spcPct val="0"/>
              </a:spcAft>
            </a:pPr>
            <a:r>
              <a:rPr lang="en-US" sz="2400" dirty="0">
                <a:solidFill>
                  <a:prstClr val="black"/>
                </a:solidFill>
                <a:latin typeface="Gill Sans Light"/>
                <a:ea typeface="ＭＳ Ｐゴシック" charset="-128"/>
                <a:cs typeface="Gill Sans Light"/>
              </a:rPr>
              <a:t>DS 3100, Fundamentals of Data Science</a:t>
            </a:r>
          </a:p>
        </p:txBody>
      </p:sp>
      <p:pic>
        <p:nvPicPr>
          <p:cNvPr id="7" name="Picture 6" descr="Vanderbilt announces new logos, marks to be rolled out for both university  and athletics – The Vanderbilt Hustler">
            <a:extLst>
              <a:ext uri="{FF2B5EF4-FFF2-40B4-BE49-F238E27FC236}">
                <a16:creationId xmlns:a16="http://schemas.microsoft.com/office/drawing/2014/main" id="{690D06E9-4FED-B8A6-3D02-1CD3391BDF46}"/>
              </a:ext>
            </a:extLst>
          </p:cNvPr>
          <p:cNvPicPr>
            <a:picLocks noChangeAspect="1"/>
          </p:cNvPicPr>
          <p:nvPr/>
        </p:nvPicPr>
        <p:blipFill>
          <a:blip r:embed="rId5"/>
          <a:stretch>
            <a:fillRect/>
          </a:stretch>
        </p:blipFill>
        <p:spPr>
          <a:xfrm>
            <a:off x="9594937" y="5753646"/>
            <a:ext cx="1888278" cy="974594"/>
          </a:xfrm>
          <a:prstGeom prst="rect">
            <a:avLst/>
          </a:prstGeom>
        </p:spPr>
      </p:pic>
    </p:spTree>
    <p:extLst>
      <p:ext uri="{BB962C8B-B14F-4D97-AF65-F5344CB8AC3E}">
        <p14:creationId xmlns:p14="http://schemas.microsoft.com/office/powerpoint/2010/main" val="11481668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C733-07D4-AAA4-B294-C46811B7982E}"/>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05222EE5-EAD7-B0C2-70FC-90B6D5563E0F}"/>
              </a:ext>
            </a:extLst>
          </p:cNvPr>
          <p:cNvSpPr>
            <a:spLocks noGrp="1"/>
          </p:cNvSpPr>
          <p:nvPr>
            <p:ph type="body" idx="1"/>
          </p:nvPr>
        </p:nvSpPr>
        <p:spPr/>
        <p:txBody>
          <a:bodyPr/>
          <a:lstStyle/>
          <a:p>
            <a:endParaRPr lang="en-US" dirty="0"/>
          </a:p>
          <a:p>
            <a:r>
              <a:rPr lang="en-US" dirty="0"/>
              <a:t>Moving beyond correlation for Linear Associations</a:t>
            </a:r>
          </a:p>
          <a:p>
            <a:r>
              <a:rPr lang="en-US" dirty="0"/>
              <a:t>Fitting a Line to Data</a:t>
            </a:r>
          </a:p>
          <a:p>
            <a:r>
              <a:rPr lang="en-US" dirty="0"/>
              <a:t>Objective functions for Linear Regression</a:t>
            </a:r>
          </a:p>
          <a:p>
            <a:r>
              <a:rPr lang="en-US" dirty="0"/>
              <a:t>Ordinary Least Squares</a:t>
            </a:r>
          </a:p>
        </p:txBody>
      </p:sp>
    </p:spTree>
    <p:extLst>
      <p:ext uri="{BB962C8B-B14F-4D97-AF65-F5344CB8AC3E}">
        <p14:creationId xmlns:p14="http://schemas.microsoft.com/office/powerpoint/2010/main" val="14742649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2EFA-98E6-175F-F5B4-6CC9A81B4159}"/>
              </a:ext>
            </a:extLst>
          </p:cNvPr>
          <p:cNvSpPr>
            <a:spLocks noGrp="1"/>
          </p:cNvSpPr>
          <p:nvPr>
            <p:ph type="title"/>
          </p:nvPr>
        </p:nvSpPr>
        <p:spPr/>
        <p:txBody>
          <a:bodyPr/>
          <a:lstStyle/>
          <a:p>
            <a:r>
              <a:rPr lang="en-US" dirty="0"/>
              <a:t>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DA78D3B-CA2E-C35D-2C69-BEC3BB0A76A0}"/>
                  </a:ext>
                </a:extLst>
              </p:cNvPr>
              <p:cNvSpPr>
                <a:spLocks noGrp="1"/>
              </p:cNvSpPr>
              <p:nvPr>
                <p:ph type="body" idx="1"/>
              </p:nvPr>
            </p:nvSpPr>
            <p:spPr/>
            <p:txBody>
              <a:bodyPr>
                <a:normAutofit fontScale="77500" lnSpcReduction="20000"/>
              </a:bodyPr>
              <a:lstStyle/>
              <a:p>
                <a:r>
                  <a:rPr lang="en-US" dirty="0"/>
                  <a:t>Regression is a statistical framework for describing and modeling how an outcome varies with one or more predictors.</a:t>
                </a:r>
              </a:p>
              <a:p>
                <a:endParaRPr lang="en-US" dirty="0"/>
              </a:p>
              <a:p>
                <a:r>
                  <a:rPr lang="en-US" dirty="0"/>
                  <a:t>Predictive problem: Rather than asking only whether two variables are associated, regression lets us ask</a:t>
                </a:r>
              </a:p>
              <a:p>
                <a:pPr lvl="1">
                  <a:buClr>
                    <a:schemeClr val="tx1"/>
                  </a:buClr>
                </a:pPr>
                <a:r>
                  <a:rPr lang="en-US" dirty="0">
                    <a:solidFill>
                      <a:schemeClr val="accent2"/>
                    </a:solidFill>
                  </a:rPr>
                  <a:t>How does the expected value of an outcome change as a predictor changes? </a:t>
                </a:r>
                <a:r>
                  <a:rPr lang="en-US" dirty="0"/>
                  <a:t>For example:</a:t>
                </a:r>
              </a:p>
              <a:p>
                <a:pPr lvl="2"/>
                <a:r>
                  <a:rPr lang="en-US" dirty="0"/>
                  <a:t>How does house price change with the size of a house?</a:t>
                </a:r>
              </a:p>
              <a:p>
                <a:pPr lvl="2"/>
                <a:r>
                  <a:rPr lang="en-US" dirty="0"/>
                  <a:t>How does exam performance change with hours spent studying?</a:t>
                </a:r>
              </a:p>
              <a:p>
                <a:pPr lvl="2"/>
                <a:r>
                  <a:rPr lang="en-US" dirty="0"/>
                  <a:t>How does life expectancy vary with health expenditure?</a:t>
                </a:r>
              </a:p>
              <a:p>
                <a:pPr lvl="2"/>
                <a:r>
                  <a:rPr lang="en-US" dirty="0"/>
                  <a:t>How does energy consumption change with outside temperature?</a:t>
                </a:r>
              </a:p>
              <a:p>
                <a:endParaRPr lang="en-US" dirty="0"/>
              </a:p>
              <a:p>
                <a:r>
                  <a:rPr lang="en-US" dirty="0"/>
                  <a:t>We begin with the simplest case: one quantitative outcome and one predictor.</a:t>
                </a:r>
              </a:p>
              <a:p>
                <a:pPr lvl="1">
                  <a:buClr>
                    <a:schemeClr val="tx1"/>
                  </a:buClr>
                </a:pPr>
                <a:r>
                  <a:rPr lang="en-US" sz="3100" b="1" dirty="0">
                    <a:solidFill>
                      <a:schemeClr val="accent2"/>
                    </a:solidFill>
                  </a:rPr>
                  <a:t>Simple linear regression</a:t>
                </a:r>
                <a:r>
                  <a:rPr lang="en-US" dirty="0"/>
                  <a:t> asks whether the </a:t>
                </a:r>
                <a:r>
                  <a:rPr lang="en-US" sz="3100" i="1" dirty="0">
                    <a:solidFill>
                      <a:schemeClr val="accent2"/>
                    </a:solidFill>
                  </a:rPr>
                  <a:t>expected value of Y</a:t>
                </a:r>
                <a:r>
                  <a:rPr lang="en-US" dirty="0"/>
                  <a:t> can be reasonably represented as a linear function of X: </a:t>
                </a:r>
                <a14:m>
                  <m:oMath xmlns:m="http://schemas.openxmlformats.org/officeDocument/2006/math">
                    <m:r>
                      <a:rPr lang="en-US" sz="3100">
                        <a:solidFill>
                          <a:schemeClr val="accent2"/>
                        </a:solidFill>
                        <a:latin typeface="Cambria Math" panose="02040503050406030204" pitchFamily="18" charset="0"/>
                      </a:rPr>
                      <m:t>𝑦</m:t>
                    </m:r>
                    <m:r>
                      <a:rPr lang="en-US" sz="3100">
                        <a:solidFill>
                          <a:schemeClr val="accent2"/>
                        </a:solidFill>
                        <a:latin typeface="Cambria Math" panose="02040503050406030204" pitchFamily="18" charset="0"/>
                      </a:rPr>
                      <m:t>=</m:t>
                    </m:r>
                    <m:r>
                      <a:rPr lang="en-US" sz="3100">
                        <a:solidFill>
                          <a:schemeClr val="accent2"/>
                        </a:solidFill>
                        <a:latin typeface="Cambria Math" panose="02040503050406030204" pitchFamily="18" charset="0"/>
                      </a:rPr>
                      <m:t>𝑚𝑥</m:t>
                    </m:r>
                    <m:r>
                      <a:rPr lang="en-US" sz="3100">
                        <a:solidFill>
                          <a:schemeClr val="accent2"/>
                        </a:solidFill>
                        <a:latin typeface="Cambria Math" panose="02040503050406030204" pitchFamily="18" charset="0"/>
                      </a:rPr>
                      <m:t>+</m:t>
                    </m:r>
                    <m:r>
                      <a:rPr lang="en-US" sz="3100">
                        <a:solidFill>
                          <a:schemeClr val="accent2"/>
                        </a:solidFill>
                        <a:latin typeface="Cambria Math" panose="02040503050406030204" pitchFamily="18" charset="0"/>
                      </a:rPr>
                      <m:t>𝑐</m:t>
                    </m:r>
                  </m:oMath>
                </a14:m>
                <a:endParaRPr lang="en-US" sz="3100" dirty="0">
                  <a:solidFill>
                    <a:schemeClr val="accent2"/>
                  </a:solidFill>
                </a:endParaRPr>
              </a:p>
            </p:txBody>
          </p:sp>
        </mc:Choice>
        <mc:Fallback xmlns="">
          <p:sp>
            <p:nvSpPr>
              <p:cNvPr id="3" name="Text Placeholder 2">
                <a:extLst>
                  <a:ext uri="{FF2B5EF4-FFF2-40B4-BE49-F238E27FC236}">
                    <a16:creationId xmlns:a16="http://schemas.microsoft.com/office/drawing/2014/main" id="{DDA78D3B-CA2E-C35D-2C69-BEC3BB0A76A0}"/>
                  </a:ext>
                </a:extLst>
              </p:cNvPr>
              <p:cNvSpPr>
                <a:spLocks noGrp="1" noRot="1" noChangeAspect="1" noMove="1" noResize="1" noEditPoints="1" noAdjustHandles="1" noChangeArrowheads="1" noChangeShapeType="1" noTextEdit="1"/>
              </p:cNvSpPr>
              <p:nvPr>
                <p:ph type="body" idx="1"/>
              </p:nvPr>
            </p:nvSpPr>
            <p:spPr>
              <a:blipFill>
                <a:blip r:embed="rId2"/>
                <a:stretch>
                  <a:fillRect t="-2100"/>
                </a:stretch>
              </a:blipFill>
            </p:spPr>
            <p:txBody>
              <a:bodyPr/>
              <a:lstStyle/>
              <a:p>
                <a:r>
                  <a:rPr lang="en-US">
                    <a:noFill/>
                  </a:rPr>
                  <a:t> </a:t>
                </a:r>
              </a:p>
            </p:txBody>
          </p:sp>
        </mc:Fallback>
      </mc:AlternateContent>
    </p:spTree>
    <p:extLst>
      <p:ext uri="{BB962C8B-B14F-4D97-AF65-F5344CB8AC3E}">
        <p14:creationId xmlns:p14="http://schemas.microsoft.com/office/powerpoint/2010/main" val="36243659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C80C1-0353-8865-5DFA-53849A5C71DE}"/>
              </a:ext>
            </a:extLst>
          </p:cNvPr>
          <p:cNvSpPr>
            <a:spLocks noGrp="1"/>
          </p:cNvSpPr>
          <p:nvPr>
            <p:ph type="title"/>
          </p:nvPr>
        </p:nvSpPr>
        <p:spPr/>
        <p:txBody>
          <a:bodyPr/>
          <a:lstStyle/>
          <a:p>
            <a:r>
              <a:rPr lang="en-US" dirty="0"/>
              <a:t>Setting the Regression scene</a:t>
            </a:r>
          </a:p>
        </p:txBody>
      </p:sp>
      <p:sp>
        <p:nvSpPr>
          <p:cNvPr id="3" name="Text Placeholder 2">
            <a:extLst>
              <a:ext uri="{FF2B5EF4-FFF2-40B4-BE49-F238E27FC236}">
                <a16:creationId xmlns:a16="http://schemas.microsoft.com/office/drawing/2014/main" id="{8E4C8A0E-863B-ECDF-7BE3-007362FAC6FB}"/>
              </a:ext>
            </a:extLst>
          </p:cNvPr>
          <p:cNvSpPr>
            <a:spLocks noGrp="1"/>
          </p:cNvSpPr>
          <p:nvPr>
            <p:ph type="body" idx="1"/>
          </p:nvPr>
        </p:nvSpPr>
        <p:spPr>
          <a:xfrm>
            <a:off x="608185" y="1401270"/>
            <a:ext cx="5841655" cy="666069"/>
          </a:xfrm>
        </p:spPr>
        <p:txBody>
          <a:bodyPr>
            <a:noAutofit/>
          </a:bodyPr>
          <a:lstStyle/>
          <a:p>
            <a:pPr marL="101598" indent="0">
              <a:buNone/>
            </a:pPr>
            <a:r>
              <a:rPr lang="en-US" sz="2200" dirty="0"/>
              <a:t>A simple example to set the premise for linear equations and Simple Linear Regression.</a:t>
            </a:r>
          </a:p>
        </p:txBody>
      </p:sp>
      <p:sp>
        <p:nvSpPr>
          <p:cNvPr id="4" name="Rounded Rectangle 3">
            <a:extLst>
              <a:ext uri="{FF2B5EF4-FFF2-40B4-BE49-F238E27FC236}">
                <a16:creationId xmlns:a16="http://schemas.microsoft.com/office/drawing/2014/main" id="{572763FA-18C4-A228-196B-EFA42152491D}"/>
              </a:ext>
            </a:extLst>
          </p:cNvPr>
          <p:cNvSpPr/>
          <p:nvPr/>
        </p:nvSpPr>
        <p:spPr>
          <a:xfrm>
            <a:off x="971342" y="2270957"/>
            <a:ext cx="5115339" cy="2644102"/>
          </a:xfrm>
          <a:prstGeom prst="round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2"/>
                </a:solidFill>
              </a:rPr>
              <a:t>Beers and BAC</a:t>
            </a:r>
            <a:br>
              <a:rPr lang="en-US" dirty="0">
                <a:solidFill>
                  <a:schemeClr val="accent2"/>
                </a:solidFill>
              </a:rPr>
            </a:br>
            <a:r>
              <a:rPr lang="en-US" dirty="0">
                <a:solidFill>
                  <a:schemeClr val="accent2"/>
                </a:solidFill>
              </a:rPr>
              <a:t>Researchers at Ohio State University had sixteen volunteers drink a randomly drawn number of 12-ounce beer cans. Thirty minutes after drinking their last beer, each subject had their blood alcohol content (BAC) measured. We want to test the relationship between </a:t>
            </a:r>
            <a:r>
              <a:rPr lang="en-US" b="1" dirty="0">
                <a:solidFill>
                  <a:schemeClr val="accent2"/>
                </a:solidFill>
              </a:rPr>
              <a:t>BAC</a:t>
            </a:r>
            <a:r>
              <a:rPr lang="en-US" dirty="0">
                <a:solidFill>
                  <a:schemeClr val="accent2"/>
                </a:solidFill>
              </a:rPr>
              <a:t> and the </a:t>
            </a:r>
            <a:r>
              <a:rPr lang="en-US" b="1" dirty="0">
                <a:solidFill>
                  <a:schemeClr val="accent2"/>
                </a:solidFill>
              </a:rPr>
              <a:t>number of beer cans</a:t>
            </a:r>
            <a:r>
              <a:rPr lang="en-US" dirty="0">
                <a:solidFill>
                  <a:schemeClr val="accent2"/>
                </a:solidFill>
              </a:rPr>
              <a:t> that each subject drank.</a:t>
            </a:r>
          </a:p>
        </p:txBody>
      </p:sp>
      <p:pic>
        <p:nvPicPr>
          <p:cNvPr id="5" name="Picture 4" descr="3,500+ Cartoon Beer Bottle Illustrations - iStock">
            <a:extLst>
              <a:ext uri="{FF2B5EF4-FFF2-40B4-BE49-F238E27FC236}">
                <a16:creationId xmlns:a16="http://schemas.microsoft.com/office/drawing/2014/main" id="{A412BBB0-181E-D2C7-0300-D48B7D1526AC}"/>
              </a:ext>
            </a:extLst>
          </p:cNvPr>
          <p:cNvPicPr>
            <a:picLocks noChangeAspect="1"/>
          </p:cNvPicPr>
          <p:nvPr/>
        </p:nvPicPr>
        <p:blipFill>
          <a:blip r:embed="rId3"/>
          <a:stretch>
            <a:fillRect/>
          </a:stretch>
        </p:blipFill>
        <p:spPr>
          <a:xfrm>
            <a:off x="10523722" y="5118677"/>
            <a:ext cx="1058677" cy="1198193"/>
          </a:xfrm>
          <a:prstGeom prst="rect">
            <a:avLst/>
          </a:prstGeom>
        </p:spPr>
      </p:pic>
      <p:pic>
        <p:nvPicPr>
          <p:cNvPr id="7" name="Picture 6">
            <a:extLst>
              <a:ext uri="{FF2B5EF4-FFF2-40B4-BE49-F238E27FC236}">
                <a16:creationId xmlns:a16="http://schemas.microsoft.com/office/drawing/2014/main" id="{D1D3E911-B84B-15BA-C389-8D647373ADFF}"/>
              </a:ext>
            </a:extLst>
          </p:cNvPr>
          <p:cNvPicPr>
            <a:picLocks noChangeAspect="1"/>
          </p:cNvPicPr>
          <p:nvPr/>
        </p:nvPicPr>
        <p:blipFill>
          <a:blip r:embed="rId4"/>
          <a:stretch>
            <a:fillRect/>
          </a:stretch>
        </p:blipFill>
        <p:spPr>
          <a:xfrm>
            <a:off x="6449840" y="1580321"/>
            <a:ext cx="5132559" cy="3459110"/>
          </a:xfrm>
          <a:prstGeom prst="rect">
            <a:avLst/>
          </a:prstGeom>
        </p:spPr>
      </p:pic>
      <p:sp>
        <p:nvSpPr>
          <p:cNvPr id="10" name="Cloud Callout 9">
            <a:extLst>
              <a:ext uri="{FF2B5EF4-FFF2-40B4-BE49-F238E27FC236}">
                <a16:creationId xmlns:a16="http://schemas.microsoft.com/office/drawing/2014/main" id="{4CB46795-448E-B215-F5CA-0D1C2A47C790}"/>
              </a:ext>
            </a:extLst>
          </p:cNvPr>
          <p:cNvSpPr/>
          <p:nvPr/>
        </p:nvSpPr>
        <p:spPr>
          <a:xfrm>
            <a:off x="429937" y="2414916"/>
            <a:ext cx="5971520" cy="3203661"/>
          </a:xfrm>
          <a:prstGeom prst="cloudCallou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sz="1600" dirty="0">
                <a:solidFill>
                  <a:schemeClr val="accent2"/>
                </a:solidFill>
              </a:rPr>
            </a:br>
            <a:br>
              <a:rPr lang="en-US" sz="1600" dirty="0">
                <a:solidFill>
                  <a:schemeClr val="accent2"/>
                </a:solidFill>
              </a:rPr>
            </a:br>
            <a:r>
              <a:rPr lang="en-US" sz="1600" dirty="0">
                <a:solidFill>
                  <a:schemeClr val="accent2"/>
                </a:solidFill>
              </a:rPr>
              <a:t>In a perfect world, we would be able to predict someone’s BAC just by knowing the number of beers they drank using a linear equation. However, there are very few times when such linear relationships are perfect. Rather than finding an exact solution, we typically want to find something that is </a:t>
            </a:r>
            <a:r>
              <a:rPr lang="en-US" sz="1600" b="1" i="1" dirty="0">
                <a:solidFill>
                  <a:schemeClr val="accent2"/>
                </a:solidFill>
              </a:rPr>
              <a:t>close enough</a:t>
            </a:r>
            <a:r>
              <a:rPr lang="en-US" sz="1600" dirty="0">
                <a:solidFill>
                  <a:schemeClr val="accent2"/>
                </a:solidFill>
              </a:rPr>
              <a:t> (an </a:t>
            </a:r>
            <a:r>
              <a:rPr lang="en-US" sz="1600" i="1" dirty="0">
                <a:solidFill>
                  <a:schemeClr val="accent2"/>
                </a:solidFill>
              </a:rPr>
              <a:t>approximate</a:t>
            </a:r>
            <a:r>
              <a:rPr lang="en-US" sz="1600" dirty="0">
                <a:solidFill>
                  <a:schemeClr val="accent2"/>
                </a:solidFill>
              </a:rPr>
              <a:t> solution). Plotting the data shows a general linear trend which is reassuring.</a:t>
            </a:r>
          </a:p>
          <a:p>
            <a:pPr algn="ctr"/>
            <a:endParaRPr lang="en-US" dirty="0">
              <a:solidFill>
                <a:schemeClr val="accent2"/>
              </a:solidFill>
            </a:endParaRPr>
          </a:p>
        </p:txBody>
      </p:sp>
    </p:spTree>
    <p:extLst>
      <p:ext uri="{BB962C8B-B14F-4D97-AF65-F5344CB8AC3E}">
        <p14:creationId xmlns:p14="http://schemas.microsoft.com/office/powerpoint/2010/main" val="33357615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4DBDC-CC0F-D0BE-8CB4-20A846E0F5B7}"/>
              </a:ext>
            </a:extLst>
          </p:cNvPr>
          <p:cNvSpPr>
            <a:spLocks noGrp="1"/>
          </p:cNvSpPr>
          <p:nvPr>
            <p:ph type="title"/>
          </p:nvPr>
        </p:nvSpPr>
        <p:spPr/>
        <p:txBody>
          <a:bodyPr/>
          <a:lstStyle/>
          <a:p>
            <a:r>
              <a:rPr lang="en-US" dirty="0"/>
              <a:t>A Linear Equation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01575CC-C336-30F2-237A-41775F87F991}"/>
                  </a:ext>
                </a:extLst>
              </p:cNvPr>
              <p:cNvSpPr>
                <a:spLocks noGrp="1"/>
              </p:cNvSpPr>
              <p:nvPr>
                <p:ph type="body" idx="1"/>
              </p:nvPr>
            </p:nvSpPr>
            <p:spPr>
              <a:xfrm>
                <a:off x="609599" y="1295400"/>
                <a:ext cx="6844749" cy="4827104"/>
              </a:xfrm>
            </p:spPr>
            <p:txBody>
              <a:bodyPr>
                <a:normAutofit fontScale="92500"/>
              </a:bodyPr>
              <a:lstStyle/>
              <a:p>
                <a:pPr marL="101598" indent="0">
                  <a:buNone/>
                </a:pPr>
                <a:r>
                  <a:rPr lang="en-US" sz="2400" dirty="0"/>
                  <a:t>This is a linear equation in two dimensions, representing a line fit.</a:t>
                </a:r>
              </a:p>
              <a:p>
                <a:pPr marL="101598" indent="0" algn="ctr">
                  <a:buNone/>
                </a:pPr>
                <a14:m>
                  <m:oMathPara xmlns:m="http://schemas.openxmlformats.org/officeDocument/2006/math">
                    <m:oMath>
                      <m:r>
                        <a:rPr lang="en-US" sz="2400" b="0" i="1" smtClean="0">
                          <a:solidFill>
                            <a:schemeClr val="accent2"/>
                          </a:solidFill>
                          <a:latin typeface="Cambria Math" panose="02040503050406030204" pitchFamily="18" charset="0"/>
                        </a:rPr>
                        <m:t>𝑦</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𝑚𝑥</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r>
                        <a:rPr lang="en-US" sz="2400" b="0" i="1" smtClean="0">
                          <a:solidFill>
                            <a:schemeClr val="accent2"/>
                          </a:solidFill>
                          <a:latin typeface="Cambria Math" panose="02040503050406030204" pitchFamily="18" charset="0"/>
                        </a:rPr>
                        <m:t> → </m:t>
                      </m:r>
                      <m:r>
                        <a:rPr lang="en-US" sz="2400" i="1" smtClean="0">
                          <a:solidFill>
                            <a:schemeClr val="accent2"/>
                          </a:solidFill>
                          <a:latin typeface="Cambria Math" panose="02040503050406030204" pitchFamily="18" charset="0"/>
                        </a:rPr>
                        <m:t>𝐵𝐴𝐶</m:t>
                      </m:r>
                      <m:r>
                        <a:rPr lang="en-US" sz="2400" i="1" smtClean="0">
                          <a:solidFill>
                            <a:schemeClr val="accent2"/>
                          </a:solidFill>
                          <a:latin typeface="Cambria Math" panose="02040503050406030204" pitchFamily="18" charset="0"/>
                        </a:rPr>
                        <m:t>= </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𝛽</m:t>
                          </m:r>
                        </m:e>
                        <m:sub>
                          <m:r>
                            <a:rPr lang="en-US" sz="2400" i="1">
                              <a:solidFill>
                                <a:schemeClr val="accent2"/>
                              </a:solidFill>
                              <a:latin typeface="Cambria Math" panose="02040503050406030204" pitchFamily="18" charset="0"/>
                            </a:rPr>
                            <m:t>0</m:t>
                          </m:r>
                        </m:sub>
                      </m:sSub>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𝛽</m:t>
                          </m:r>
                        </m:e>
                        <m:sub>
                          <m:r>
                            <a:rPr lang="en-US" sz="2400" i="1">
                              <a:solidFill>
                                <a:schemeClr val="accent2"/>
                              </a:solidFill>
                              <a:latin typeface="Cambria Math" panose="02040503050406030204" pitchFamily="18" charset="0"/>
                            </a:rPr>
                            <m:t>1</m:t>
                          </m:r>
                        </m:sub>
                      </m:sSub>
                      <m:r>
                        <a:rPr lang="en-US" sz="2400" i="1">
                          <a:solidFill>
                            <a:schemeClr val="accent2"/>
                          </a:solidFill>
                          <a:latin typeface="Cambria Math" panose="02040503050406030204" pitchFamily="18" charset="0"/>
                          <a:ea typeface="Cambria Math" panose="02040503050406030204" pitchFamily="18" charset="0"/>
                        </a:rPr>
                        <m:t>×</m:t>
                      </m:r>
                      <m:r>
                        <a:rPr lang="en-US" sz="2400" i="1">
                          <a:solidFill>
                            <a:schemeClr val="accent2"/>
                          </a:solidFill>
                          <a:latin typeface="Cambria Math" panose="02040503050406030204" pitchFamily="18" charset="0"/>
                          <a:ea typeface="Cambria Math" panose="02040503050406030204" pitchFamily="18" charset="0"/>
                        </a:rPr>
                        <m:t>𝐵𝑒𝑒𝑟𝑠</m:t>
                      </m:r>
                    </m:oMath>
                  </m:oMathPara>
                </a14:m>
                <a:endParaRPr lang="en-US" sz="2400" dirty="0">
                  <a:solidFill>
                    <a:schemeClr val="accent2"/>
                  </a:solidFill>
                </a:endParaRPr>
              </a:p>
              <a:p>
                <a:pPr marL="101598" indent="0">
                  <a:buNone/>
                </a:pPr>
                <a:r>
                  <a:rPr lang="en-US" sz="2400" dirty="0"/>
                  <a:t>A few key terms:</a:t>
                </a:r>
              </a:p>
              <a:p>
                <a:pPr lvl="0">
                  <a:buClr>
                    <a:schemeClr val="tx1"/>
                  </a:buClr>
                </a:pPr>
                <a:r>
                  <a:rPr lang="en-US" sz="2400" dirty="0">
                    <a:solidFill>
                      <a:schemeClr val="accent2"/>
                    </a:solidFill>
                  </a:rPr>
                  <a:t>Explanatory Variable</a:t>
                </a:r>
                <a:r>
                  <a:rPr lang="en-US" sz="2400" dirty="0"/>
                  <a:t>: # of Beers; known from our dataset. </a:t>
                </a:r>
                <a:br>
                  <a:rPr lang="en-US" sz="2400" dirty="0"/>
                </a:br>
                <a:r>
                  <a:rPr lang="en-US" sz="2400" dirty="0"/>
                  <a:t>Also called </a:t>
                </a:r>
                <a:r>
                  <a:rPr lang="en-US" sz="2400" dirty="0">
                    <a:solidFill>
                      <a:schemeClr val="accent2"/>
                    </a:solidFill>
                  </a:rPr>
                  <a:t>predictor</a:t>
                </a:r>
                <a:r>
                  <a:rPr lang="en-US" sz="2400" dirty="0"/>
                  <a:t> or </a:t>
                </a:r>
                <a:r>
                  <a:rPr lang="en-US" sz="2400" dirty="0">
                    <a:solidFill>
                      <a:schemeClr val="accent2"/>
                    </a:solidFill>
                  </a:rPr>
                  <a:t>feature</a:t>
                </a:r>
                <a:r>
                  <a:rPr lang="en-US" sz="2400" dirty="0"/>
                  <a:t>.</a:t>
                </a:r>
              </a:p>
              <a:p>
                <a:pPr lvl="0">
                  <a:buClr>
                    <a:schemeClr val="tx1"/>
                  </a:buClr>
                </a:pPr>
                <a:r>
                  <a:rPr lang="en-US" sz="2400" dirty="0">
                    <a:solidFill>
                      <a:schemeClr val="accent2"/>
                    </a:solidFill>
                  </a:rPr>
                  <a:t>Response Variable</a:t>
                </a:r>
                <a:r>
                  <a:rPr lang="en-US" sz="2400" dirty="0"/>
                  <a:t>: BAC; what we want to predict</a:t>
                </a:r>
              </a:p>
              <a:p>
                <a:pPr lvl="0">
                  <a:buClr>
                    <a:schemeClr val="tx1"/>
                  </a:buClr>
                </a:pP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𝛽</m:t>
                        </m:r>
                      </m:e>
                      <m:sub>
                        <m:r>
                          <a:rPr lang="en-US" sz="2400">
                            <a:latin typeface="Cambria Math" panose="02040503050406030204" pitchFamily="18" charset="0"/>
                          </a:rPr>
                          <m:t>0</m:t>
                        </m:r>
                      </m:sub>
                    </m:sSub>
                  </m:oMath>
                </a14:m>
                <a:r>
                  <a:rPr lang="en-US" sz="2400" dirty="0"/>
                  <a:t>is the </a:t>
                </a:r>
                <a:r>
                  <a:rPr lang="en-US" sz="2400" dirty="0">
                    <a:solidFill>
                      <a:schemeClr val="accent2"/>
                    </a:solidFill>
                  </a:rPr>
                  <a:t>intercept</a:t>
                </a:r>
                <a:r>
                  <a:rPr lang="en-US" sz="2400" dirty="0"/>
                  <a:t> of the line that represents the linear relationship between predictor and response. </a:t>
                </a:r>
              </a:p>
              <a:p>
                <a:pPr lvl="1">
                  <a:buClr>
                    <a:schemeClr val="tx1"/>
                  </a:buClr>
                </a:pPr>
                <a:r>
                  <a:rPr lang="en-US" sz="2400" dirty="0"/>
                  <a:t>expected value of Y when al values of X are zero</a:t>
                </a:r>
              </a:p>
              <a:p>
                <a:pPr lvl="0">
                  <a:buClr>
                    <a:schemeClr val="tx1"/>
                  </a:buClr>
                </a:pP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𝛽</m:t>
                        </m:r>
                      </m:e>
                      <m:sub>
                        <m:r>
                          <a:rPr lang="en-US" sz="2400">
                            <a:latin typeface="Cambria Math" panose="02040503050406030204" pitchFamily="18" charset="0"/>
                          </a:rPr>
                          <m:t>1</m:t>
                        </m:r>
                      </m:sub>
                    </m:sSub>
                  </m:oMath>
                </a14:m>
                <a:r>
                  <a:rPr lang="en-US" sz="2400" dirty="0"/>
                  <a:t>is the </a:t>
                </a:r>
                <a:r>
                  <a:rPr lang="en-US" sz="2400" dirty="0">
                    <a:solidFill>
                      <a:schemeClr val="accent2"/>
                    </a:solidFill>
                  </a:rPr>
                  <a:t>slope</a:t>
                </a:r>
                <a:r>
                  <a:rPr lang="en-US" sz="2400" dirty="0"/>
                  <a:t> of the line.</a:t>
                </a:r>
              </a:p>
              <a:p>
                <a:pPr lvl="1">
                  <a:buClr>
                    <a:schemeClr val="tx1"/>
                  </a:buClr>
                </a:pPr>
                <a:r>
                  <a:rPr lang="en-US" sz="2400" dirty="0"/>
                  <a:t>number of units Y changes with respect to 1 unit change in X</a:t>
                </a:r>
              </a:p>
            </p:txBody>
          </p:sp>
        </mc:Choice>
        <mc:Fallback xmlns="">
          <p:sp>
            <p:nvSpPr>
              <p:cNvPr id="3" name="Text Placeholder 2">
                <a:extLst>
                  <a:ext uri="{FF2B5EF4-FFF2-40B4-BE49-F238E27FC236}">
                    <a16:creationId xmlns:a16="http://schemas.microsoft.com/office/drawing/2014/main" id="{C01575CC-C336-30F2-237A-41775F87F991}"/>
                  </a:ext>
                </a:extLst>
              </p:cNvPr>
              <p:cNvSpPr>
                <a:spLocks noGrp="1" noRot="1" noChangeAspect="1" noMove="1" noResize="1" noEditPoints="1" noAdjustHandles="1" noChangeArrowheads="1" noChangeShapeType="1" noTextEdit="1"/>
              </p:cNvSpPr>
              <p:nvPr>
                <p:ph type="body" idx="1"/>
              </p:nvPr>
            </p:nvSpPr>
            <p:spPr>
              <a:xfrm>
                <a:off x="609599" y="1295400"/>
                <a:ext cx="6844749" cy="4827104"/>
              </a:xfrm>
              <a:blipFill>
                <a:blip r:embed="rId3"/>
                <a:stretch>
                  <a:fillRect t="-789" r="-55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0393ED4-1F1F-CE16-4CB1-368F034CC57B}"/>
              </a:ext>
            </a:extLst>
          </p:cNvPr>
          <p:cNvPicPr>
            <a:picLocks noChangeAspect="1"/>
          </p:cNvPicPr>
          <p:nvPr/>
        </p:nvPicPr>
        <p:blipFill>
          <a:blip r:embed="rId4"/>
          <a:stretch>
            <a:fillRect/>
          </a:stretch>
        </p:blipFill>
        <p:spPr>
          <a:xfrm>
            <a:off x="7663069" y="1540842"/>
            <a:ext cx="3605642" cy="3354700"/>
          </a:xfrm>
          <a:prstGeom prst="rect">
            <a:avLst/>
          </a:prstGeom>
        </p:spPr>
      </p:pic>
      <p:sp>
        <p:nvSpPr>
          <p:cNvPr id="6" name="TextBox 5">
            <a:extLst>
              <a:ext uri="{FF2B5EF4-FFF2-40B4-BE49-F238E27FC236}">
                <a16:creationId xmlns:a16="http://schemas.microsoft.com/office/drawing/2014/main" id="{D49A8D6A-C7E9-135A-1F1A-58460634D9DC}"/>
              </a:ext>
            </a:extLst>
          </p:cNvPr>
          <p:cNvSpPr txBox="1"/>
          <p:nvPr/>
        </p:nvSpPr>
        <p:spPr>
          <a:xfrm>
            <a:off x="7876788" y="5108425"/>
            <a:ext cx="3347224" cy="646331"/>
          </a:xfrm>
          <a:prstGeom prst="rect">
            <a:avLst/>
          </a:prstGeom>
          <a:noFill/>
        </p:spPr>
        <p:txBody>
          <a:bodyPr wrap="square" rtlCol="0">
            <a:spAutoFit/>
          </a:bodyPr>
          <a:lstStyle/>
          <a:p>
            <a:pPr algn="ctr"/>
            <a:r>
              <a:rPr lang="en-US" dirty="0"/>
              <a:t>Given our dataset, we are trying to fit </a:t>
            </a:r>
            <a:r>
              <a:rPr lang="en-US" i="1" dirty="0">
                <a:solidFill>
                  <a:schemeClr val="accent2"/>
                </a:solidFill>
              </a:rPr>
              <a:t>a system of equation</a:t>
            </a:r>
            <a:r>
              <a:rPr lang="en-US" dirty="0"/>
              <a:t>.</a:t>
            </a:r>
          </a:p>
        </p:txBody>
      </p:sp>
    </p:spTree>
    <p:extLst>
      <p:ext uri="{BB962C8B-B14F-4D97-AF65-F5344CB8AC3E}">
        <p14:creationId xmlns:p14="http://schemas.microsoft.com/office/powerpoint/2010/main" val="5763768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47AC-63C3-283B-85E2-D0F4E5DA6259}"/>
              </a:ext>
            </a:extLst>
          </p:cNvPr>
          <p:cNvSpPr>
            <a:spLocks noGrp="1"/>
          </p:cNvSpPr>
          <p:nvPr>
            <p:ph type="title"/>
          </p:nvPr>
        </p:nvSpPr>
        <p:spPr>
          <a:xfrm>
            <a:off x="609600" y="274637"/>
            <a:ext cx="10154478" cy="901200"/>
          </a:xfrm>
        </p:spPr>
        <p:txBody>
          <a:bodyPr>
            <a:normAutofit fontScale="90000"/>
          </a:bodyPr>
          <a:lstStyle/>
          <a:p>
            <a:r>
              <a:rPr lang="en-US" dirty="0"/>
              <a:t>Solving a linear system of equations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F9676B-58A6-8F02-AD2F-38938166ABA3}"/>
                  </a:ext>
                </a:extLst>
              </p:cNvPr>
              <p:cNvSpPr>
                <a:spLocks noGrp="1"/>
              </p:cNvSpPr>
              <p:nvPr>
                <p:ph type="body" idx="1"/>
              </p:nvPr>
            </p:nvSpPr>
            <p:spPr>
              <a:xfrm>
                <a:off x="642939" y="1337377"/>
                <a:ext cx="10939462" cy="759779"/>
              </a:xfrm>
            </p:spPr>
            <p:txBody>
              <a:bodyPr>
                <a:noAutofit/>
              </a:bodyPr>
              <a:lstStyle/>
              <a:p>
                <a:pPr marL="101598" indent="0">
                  <a:buNone/>
                </a:pPr>
                <a:r>
                  <a:rPr lang="en-US" sz="2000" dirty="0"/>
                  <a:t>Modern computational packages represent them in vectorial form. </a:t>
                </a:r>
                <a14:m>
                  <m:oMath xmlns:m="http://schemas.openxmlformats.org/officeDocument/2006/math">
                    <m:r>
                      <m:rPr>
                        <m:sty m:val="p"/>
                      </m:rPr>
                      <a:rPr lang="en-US" sz="2000" b="0" i="0" smtClean="0">
                        <a:latin typeface="Cambria Math" panose="02040503050406030204" pitchFamily="18" charset="0"/>
                        <a:ea typeface="Cambria Math" panose="02040503050406030204" pitchFamily="18" charset="0"/>
                      </a:rPr>
                      <m:t>X</m:t>
                    </m:r>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𝛽</m:t>
                        </m:r>
                      </m:e>
                    </m:acc>
                  </m:oMath>
                </a14:m>
                <a:r>
                  <a:rPr lang="en-US" sz="2000" dirty="0"/>
                  <a:t> is a </a:t>
                </a:r>
                <a:r>
                  <a:rPr lang="en-US" sz="2000" i="1" dirty="0">
                    <a:solidFill>
                      <a:schemeClr val="accent2"/>
                    </a:solidFill>
                  </a:rPr>
                  <a:t>linear combination of the columns</a:t>
                </a:r>
                <a:r>
                  <a:rPr lang="en-US" sz="2000" dirty="0"/>
                  <a:t> of the matrix </a:t>
                </a:r>
                <a14:m>
                  <m:oMath xmlns:m="http://schemas.openxmlformats.org/officeDocument/2006/math">
                    <m:r>
                      <a:rPr lang="en-US" sz="2000" b="0" i="1" smtClean="0">
                        <a:latin typeface="Cambria Math" panose="02040503050406030204" pitchFamily="18" charset="0"/>
                      </a:rPr>
                      <m:t>𝑋</m:t>
                    </m:r>
                  </m:oMath>
                </a14:m>
                <a:r>
                  <a:rPr lang="en-US" sz="2000" dirty="0"/>
                  <a:t>. We want to find an estimate of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i="1" smtClean="0">
                            <a:latin typeface="Cambria Math" panose="02040503050406030204" pitchFamily="18" charset="0"/>
                            <a:ea typeface="Cambria Math" panose="02040503050406030204" pitchFamily="18" charset="0"/>
                          </a:rPr>
                          <m:t>𝛽</m:t>
                        </m:r>
                      </m:e>
                    </m:acc>
                  </m:oMath>
                </a14:m>
                <a:r>
                  <a:rPr lang="en-US" sz="2000" dirty="0"/>
                  <a:t> that is the </a:t>
                </a:r>
                <a:r>
                  <a:rPr lang="en-US" sz="2000" i="1" dirty="0">
                    <a:solidFill>
                      <a:schemeClr val="accent2"/>
                    </a:solidFill>
                  </a:rPr>
                  <a:t>best approximation</a:t>
                </a:r>
                <a:r>
                  <a:rPr lang="en-US" sz="2000" dirty="0"/>
                  <a:t> of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a14:m>
                <a:endParaRPr lang="en-US" sz="2000" dirty="0"/>
              </a:p>
            </p:txBody>
          </p:sp>
        </mc:Choice>
        <mc:Fallback xmlns="">
          <p:sp>
            <p:nvSpPr>
              <p:cNvPr id="3" name="Text Placeholder 2">
                <a:extLst>
                  <a:ext uri="{FF2B5EF4-FFF2-40B4-BE49-F238E27FC236}">
                    <a16:creationId xmlns:a16="http://schemas.microsoft.com/office/drawing/2014/main" id="{C8F9676B-58A6-8F02-AD2F-38938166ABA3}"/>
                  </a:ext>
                </a:extLst>
              </p:cNvPr>
              <p:cNvSpPr>
                <a:spLocks noGrp="1" noRot="1" noChangeAspect="1" noMove="1" noResize="1" noEditPoints="1" noAdjustHandles="1" noChangeArrowheads="1" noChangeShapeType="1" noTextEdit="1"/>
              </p:cNvSpPr>
              <p:nvPr>
                <p:ph type="body" idx="1"/>
              </p:nvPr>
            </p:nvSpPr>
            <p:spPr>
              <a:xfrm>
                <a:off x="642939" y="1337377"/>
                <a:ext cx="10939462" cy="759779"/>
              </a:xfrm>
              <a:blipFill>
                <a:blip r:embed="rId3"/>
                <a:stretch>
                  <a:fillRect t="-9836" b="-1311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8E73A59-7673-51AB-B17E-D8FAEF708DD5}"/>
              </a:ext>
            </a:extLst>
          </p:cNvPr>
          <p:cNvPicPr>
            <a:picLocks noChangeAspect="1"/>
          </p:cNvPicPr>
          <p:nvPr/>
        </p:nvPicPr>
        <p:blipFill>
          <a:blip r:embed="rId4"/>
          <a:stretch>
            <a:fillRect/>
          </a:stretch>
        </p:blipFill>
        <p:spPr>
          <a:xfrm>
            <a:off x="1989189" y="2524537"/>
            <a:ext cx="2761716" cy="2569509"/>
          </a:xfrm>
          <a:prstGeom prst="rect">
            <a:avLst/>
          </a:prstGeom>
        </p:spPr>
      </p:pic>
      <mc:AlternateContent xmlns:mc="http://schemas.openxmlformats.org/markup-compatibility/2006" xmlns:a14="http://schemas.microsoft.com/office/drawing/2010/main">
        <mc:Choice Requires="a14">
          <p:sp>
            <p:nvSpPr>
              <p:cNvPr id="7" name="Up Arrow Callout 6">
                <a:extLst>
                  <a:ext uri="{FF2B5EF4-FFF2-40B4-BE49-F238E27FC236}">
                    <a16:creationId xmlns:a16="http://schemas.microsoft.com/office/drawing/2014/main" id="{EA3A95B8-E009-BCC6-901B-4E3FC7AC29E4}"/>
                  </a:ext>
                </a:extLst>
              </p:cNvPr>
              <p:cNvSpPr/>
              <p:nvPr/>
            </p:nvSpPr>
            <p:spPr>
              <a:xfrm>
                <a:off x="3825011" y="5094046"/>
                <a:ext cx="6939067" cy="1157666"/>
              </a:xfrm>
              <a:prstGeom prst="upArrowCallou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2"/>
                    </a:solidFill>
                  </a:rPr>
                  <a:t>Note that we inject an extra column of all </a:t>
                </a:r>
                <a14:m>
                  <m:oMath xmlns:m="http://schemas.openxmlformats.org/officeDocument/2006/math">
                    <m:r>
                      <a:rPr lang="en-US" sz="1600" b="1">
                        <a:solidFill>
                          <a:schemeClr val="accent2"/>
                        </a:solidFill>
                        <a:latin typeface="Cambria Math" panose="02040503050406030204" pitchFamily="18" charset="0"/>
                      </a:rPr>
                      <m:t>𝟏</m:t>
                    </m:r>
                  </m:oMath>
                </a14:m>
                <a:r>
                  <a:rPr lang="en-US" sz="1600" dirty="0">
                    <a:solidFill>
                      <a:schemeClr val="accent2"/>
                    </a:solidFill>
                  </a:rPr>
                  <a:t>s alongside the actual feature column to make our matrix operation consistent with the fact that the parameter vector </a:t>
                </a:r>
                <a14:m>
                  <m:oMath xmlns:m="http://schemas.openxmlformats.org/officeDocument/2006/math">
                    <m:acc>
                      <m:accPr>
                        <m:chr m:val="⃗"/>
                        <m:ctrlPr>
                          <a:rPr lang="en-US" sz="1600" i="1" smtClean="0">
                            <a:solidFill>
                              <a:schemeClr val="accent2"/>
                            </a:solidFill>
                            <a:latin typeface="Cambria Math" panose="02040503050406030204" pitchFamily="18" charset="0"/>
                            <a:ea typeface="Cambria Math" panose="02040503050406030204" pitchFamily="18" charset="0"/>
                          </a:rPr>
                        </m:ctrlPr>
                      </m:accPr>
                      <m:e>
                        <m:r>
                          <a:rPr lang="en-US" sz="1600" i="1" smtClean="0">
                            <a:solidFill>
                              <a:schemeClr val="accent2"/>
                            </a:solidFill>
                            <a:latin typeface="Cambria Math" panose="02040503050406030204" pitchFamily="18" charset="0"/>
                            <a:ea typeface="Cambria Math" panose="02040503050406030204" pitchFamily="18" charset="0"/>
                          </a:rPr>
                          <m:t>𝛽</m:t>
                        </m:r>
                      </m:e>
                    </m:acc>
                  </m:oMath>
                </a14:m>
                <a:r>
                  <a:rPr lang="en-US" sz="1600" dirty="0">
                    <a:solidFill>
                      <a:schemeClr val="accent2"/>
                    </a:solidFill>
                  </a:rPr>
                  <a:t> includes a non-zero intercept in most cases of Simple Linear Regression.</a:t>
                </a:r>
              </a:p>
            </p:txBody>
          </p:sp>
        </mc:Choice>
        <mc:Fallback xmlns="">
          <p:sp>
            <p:nvSpPr>
              <p:cNvPr id="7" name="Up Arrow Callout 6">
                <a:extLst>
                  <a:ext uri="{FF2B5EF4-FFF2-40B4-BE49-F238E27FC236}">
                    <a16:creationId xmlns:a16="http://schemas.microsoft.com/office/drawing/2014/main" id="{EA3A95B8-E009-BCC6-901B-4E3FC7AC29E4}"/>
                  </a:ext>
                </a:extLst>
              </p:cNvPr>
              <p:cNvSpPr>
                <a:spLocks noRot="1" noChangeAspect="1" noMove="1" noResize="1" noEditPoints="1" noAdjustHandles="1" noChangeArrowheads="1" noChangeShapeType="1" noTextEdit="1"/>
              </p:cNvSpPr>
              <p:nvPr/>
            </p:nvSpPr>
            <p:spPr>
              <a:xfrm>
                <a:off x="3825011" y="5094046"/>
                <a:ext cx="6939067" cy="1157666"/>
              </a:xfrm>
              <a:prstGeom prst="upArrowCallout">
                <a:avLst/>
              </a:prstGeom>
              <a:blipFill>
                <a:blip r:embed="rId5"/>
                <a:stretch>
                  <a:fillRect r="-364" b="-10753"/>
                </a:stretch>
              </a:blipFill>
              <a:ln>
                <a:solidFill>
                  <a:schemeClr val="accent2"/>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CB1A78FD-ADE7-243D-79CF-A1AFD112A604}"/>
              </a:ext>
            </a:extLst>
          </p:cNvPr>
          <p:cNvPicPr>
            <a:picLocks noChangeAspect="1"/>
          </p:cNvPicPr>
          <p:nvPr/>
        </p:nvPicPr>
        <p:blipFill>
          <a:blip r:embed="rId6"/>
          <a:stretch>
            <a:fillRect/>
          </a:stretch>
        </p:blipFill>
        <p:spPr>
          <a:xfrm>
            <a:off x="5302855" y="2405269"/>
            <a:ext cx="5741073" cy="2688777"/>
          </a:xfrm>
          <a:prstGeom prst="rect">
            <a:avLst/>
          </a:prstGeom>
        </p:spPr>
      </p:pic>
    </p:spTree>
    <p:extLst>
      <p:ext uri="{BB962C8B-B14F-4D97-AF65-F5344CB8AC3E}">
        <p14:creationId xmlns:p14="http://schemas.microsoft.com/office/powerpoint/2010/main" val="36405158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D9873-29C0-1DAD-6778-305CD11D6CC7}"/>
              </a:ext>
            </a:extLst>
          </p:cNvPr>
          <p:cNvSpPr>
            <a:spLocks noGrp="1"/>
          </p:cNvSpPr>
          <p:nvPr>
            <p:ph type="title"/>
          </p:nvPr>
        </p:nvSpPr>
        <p:spPr>
          <a:xfrm>
            <a:off x="609600" y="274637"/>
            <a:ext cx="10025270" cy="901200"/>
          </a:xfrm>
        </p:spPr>
        <p:txBody>
          <a:bodyPr>
            <a:normAutofit fontScale="90000"/>
          </a:bodyPr>
          <a:lstStyle/>
          <a:p>
            <a:r>
              <a:rPr lang="en-US" dirty="0"/>
              <a:t>Why correlation isn’t the whole story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1EC72AB-ED42-30B7-0163-30586693A2D6}"/>
                  </a:ext>
                </a:extLst>
              </p:cNvPr>
              <p:cNvSpPr>
                <a:spLocks noGrp="1"/>
              </p:cNvSpPr>
              <p:nvPr>
                <p:ph type="body" idx="1"/>
              </p:nvPr>
            </p:nvSpPr>
            <p:spPr>
              <a:xfrm>
                <a:off x="609600" y="1295400"/>
                <a:ext cx="11143488" cy="1545336"/>
              </a:xfrm>
            </p:spPr>
            <p:txBody>
              <a:bodyPr>
                <a:normAutofit/>
              </a:bodyPr>
              <a:lstStyle/>
              <a:p>
                <a:r>
                  <a:rPr lang="en-US" sz="2400" dirty="0"/>
                  <a:t>Correlation tells us about the strength of a linear relationship</a:t>
                </a:r>
              </a:p>
              <a:p>
                <a:pPr lvl="1"/>
                <a:r>
                  <a:rPr lang="en-US" sz="2400" dirty="0"/>
                  <a:t>Correlation coefficient </a:t>
                </a:r>
                <a14:m>
                  <m:oMath xmlns:m="http://schemas.openxmlformats.org/officeDocument/2006/math">
                    <m:r>
                      <a:rPr lang="en-US" sz="2400" b="0" i="1" smtClean="0">
                        <a:solidFill>
                          <a:schemeClr val="accent2"/>
                        </a:solidFill>
                        <a:latin typeface="Cambria Math" panose="02040503050406030204" pitchFamily="18" charset="0"/>
                      </a:rPr>
                      <m:t>𝑟</m:t>
                    </m:r>
                  </m:oMath>
                </a14:m>
                <a:r>
                  <a:rPr lang="en-US" sz="2400" dirty="0"/>
                  <a:t> can still be insufficient in establishing the relationship between two variables</a:t>
                </a:r>
              </a:p>
            </p:txBody>
          </p:sp>
        </mc:Choice>
        <mc:Fallback xmlns="">
          <p:sp>
            <p:nvSpPr>
              <p:cNvPr id="3" name="Text Placeholder 2">
                <a:extLst>
                  <a:ext uri="{FF2B5EF4-FFF2-40B4-BE49-F238E27FC236}">
                    <a16:creationId xmlns:a16="http://schemas.microsoft.com/office/drawing/2014/main" id="{D1EC72AB-ED42-30B7-0163-30586693A2D6}"/>
                  </a:ext>
                </a:extLst>
              </p:cNvPr>
              <p:cNvSpPr>
                <a:spLocks noGrp="1" noRot="1" noChangeAspect="1" noMove="1" noResize="1" noEditPoints="1" noAdjustHandles="1" noChangeArrowheads="1" noChangeShapeType="1" noTextEdit="1"/>
              </p:cNvSpPr>
              <p:nvPr>
                <p:ph type="body" idx="1"/>
              </p:nvPr>
            </p:nvSpPr>
            <p:spPr>
              <a:xfrm>
                <a:off x="609600" y="1295400"/>
                <a:ext cx="11143488" cy="1545336"/>
              </a:xfrm>
              <a:blipFill>
                <a:blip r:embed="rId3"/>
                <a:stretch>
                  <a:fillRect t="-2459" r="-56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86BA3A4-7D2B-2857-DD52-E1FA99A77344}"/>
              </a:ext>
            </a:extLst>
          </p:cNvPr>
          <p:cNvPicPr>
            <a:picLocks noChangeAspect="1"/>
          </p:cNvPicPr>
          <p:nvPr/>
        </p:nvPicPr>
        <p:blipFill>
          <a:blip r:embed="rId4"/>
          <a:stretch>
            <a:fillRect/>
          </a:stretch>
        </p:blipFill>
        <p:spPr>
          <a:xfrm>
            <a:off x="6647334" y="2618923"/>
            <a:ext cx="4935066" cy="3449754"/>
          </a:xfrm>
          <a:prstGeom prst="rect">
            <a:avLst/>
          </a:prstGeom>
        </p:spPr>
      </p:pic>
      <p:sp>
        <p:nvSpPr>
          <p:cNvPr id="6" name="TextBox 5">
            <a:extLst>
              <a:ext uri="{FF2B5EF4-FFF2-40B4-BE49-F238E27FC236}">
                <a16:creationId xmlns:a16="http://schemas.microsoft.com/office/drawing/2014/main" id="{A039E45A-32A5-C2FB-60D6-E5FBF0382068}"/>
              </a:ext>
            </a:extLst>
          </p:cNvPr>
          <p:cNvSpPr txBox="1"/>
          <p:nvPr/>
        </p:nvSpPr>
        <p:spPr>
          <a:xfrm>
            <a:off x="609600" y="2618923"/>
            <a:ext cx="6037734" cy="2677656"/>
          </a:xfrm>
          <a:prstGeom prst="rect">
            <a:avLst/>
          </a:prstGeom>
          <a:noFill/>
        </p:spPr>
        <p:txBody>
          <a:bodyPr wrap="square" rtlCol="0">
            <a:spAutoFit/>
          </a:bodyPr>
          <a:lstStyle/>
          <a:p>
            <a:r>
              <a:rPr lang="en-US" sz="2400" dirty="0"/>
              <a:t>Same correlation coefficient between these two data spreads. </a:t>
            </a:r>
          </a:p>
          <a:p>
            <a:r>
              <a:rPr lang="en-US" sz="2400" dirty="0"/>
              <a:t>But exact relationship is different.</a:t>
            </a:r>
          </a:p>
          <a:p>
            <a:endParaRPr lang="en-US" sz="2400" dirty="0"/>
          </a:p>
          <a:p>
            <a:r>
              <a:rPr lang="en-US" sz="2400" dirty="0"/>
              <a:t>How do you find the linear relationship between correlated variables?</a:t>
            </a:r>
          </a:p>
          <a:p>
            <a:r>
              <a:rPr lang="en-US" sz="2400" i="1" dirty="0">
                <a:solidFill>
                  <a:schemeClr val="accent2"/>
                </a:solidFill>
              </a:rPr>
              <a:t>We fit a line to the data!</a:t>
            </a:r>
          </a:p>
        </p:txBody>
      </p:sp>
    </p:spTree>
    <p:extLst>
      <p:ext uri="{BB962C8B-B14F-4D97-AF65-F5344CB8AC3E}">
        <p14:creationId xmlns:p14="http://schemas.microsoft.com/office/powerpoint/2010/main" val="34660051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CD89-258E-3079-F21D-158AFD037DA4}"/>
              </a:ext>
            </a:extLst>
          </p:cNvPr>
          <p:cNvSpPr>
            <a:spLocks noGrp="1"/>
          </p:cNvSpPr>
          <p:nvPr>
            <p:ph type="title"/>
          </p:nvPr>
        </p:nvSpPr>
        <p:spPr/>
        <p:txBody>
          <a:bodyPr/>
          <a:lstStyle/>
          <a:p>
            <a:r>
              <a:rPr lang="en-US" dirty="0"/>
              <a:t>Fitting a line to the data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C890CEA-C442-C6EC-5932-3C6EF5B0FC09}"/>
                  </a:ext>
                </a:extLst>
              </p:cNvPr>
              <p:cNvSpPr>
                <a:spLocks noGrp="1"/>
              </p:cNvSpPr>
              <p:nvPr>
                <p:ph type="body" idx="1"/>
              </p:nvPr>
            </p:nvSpPr>
            <p:spPr>
              <a:xfrm>
                <a:off x="7951304" y="1265632"/>
                <a:ext cx="3496057" cy="652480"/>
              </a:xfrm>
            </p:spPr>
            <p:txBody>
              <a:bodyPr>
                <a:normAutofit fontScale="70000" lnSpcReduction="20000"/>
              </a:bodyPr>
              <a:lstStyle/>
              <a:p>
                <a:pPr marL="101598" indent="0" algn="ctr">
                  <a:buNone/>
                </a:pPr>
                <a:r>
                  <a:rPr lang="en-US" dirty="0"/>
                  <a:t>The linear relationship can be written as </a:t>
                </a:r>
                <a:r>
                  <a:rPr lang="en-US" dirty="0">
                    <a:solidFill>
                      <a:schemeClr val="accent2"/>
                    </a:solidFill>
                  </a:rPr>
                  <a:t>y = </a:t>
                </a:r>
                <a14:m>
                  <m:oMath xmlns:m="http://schemas.openxmlformats.org/officeDocument/2006/math">
                    <m:r>
                      <a:rPr lang="en-US" i="1" smtClean="0">
                        <a:solidFill>
                          <a:schemeClr val="accent2"/>
                        </a:solidFill>
                        <a:latin typeface="Cambria Math" panose="02040503050406030204" pitchFamily="18" charset="0"/>
                        <a:ea typeface="Cambria Math" panose="02040503050406030204" pitchFamily="18" charset="0"/>
                      </a:rPr>
                      <m:t>𝛽</m:t>
                    </m:r>
                    <m:r>
                      <a:rPr lang="en-US" b="0" i="1" baseline="-25000" smtClean="0">
                        <a:solidFill>
                          <a:schemeClr val="accent2"/>
                        </a:solidFill>
                        <a:latin typeface="Cambria Math" panose="02040503050406030204" pitchFamily="18" charset="0"/>
                        <a:ea typeface="Cambria Math" panose="02040503050406030204" pitchFamily="18" charset="0"/>
                      </a:rPr>
                      <m:t>0</m:t>
                    </m:r>
                    <m:r>
                      <a:rPr lang="en-US" b="0" i="1" smtClean="0">
                        <a:solidFill>
                          <a:schemeClr val="accent2"/>
                        </a:solidFill>
                        <a:latin typeface="Cambria Math" panose="02040503050406030204" pitchFamily="18" charset="0"/>
                        <a:ea typeface="Cambria Math" panose="02040503050406030204" pitchFamily="18" charset="0"/>
                      </a:rPr>
                      <m:t>+</m:t>
                    </m:r>
                    <m:r>
                      <a:rPr lang="en-US" i="1">
                        <a:solidFill>
                          <a:schemeClr val="accent2"/>
                        </a:solidFill>
                        <a:latin typeface="Cambria Math" panose="02040503050406030204" pitchFamily="18" charset="0"/>
                        <a:ea typeface="Cambria Math" panose="02040503050406030204" pitchFamily="18" charset="0"/>
                      </a:rPr>
                      <m:t>𝛽</m:t>
                    </m:r>
                    <m:r>
                      <a:rPr lang="en-US" b="0" i="1" baseline="-25000" smtClean="0">
                        <a:solidFill>
                          <a:schemeClr val="accent2"/>
                        </a:solidFill>
                        <a:latin typeface="Cambria Math" panose="02040503050406030204" pitchFamily="18" charset="0"/>
                        <a:ea typeface="Cambria Math" panose="02040503050406030204" pitchFamily="18" charset="0"/>
                      </a:rPr>
                      <m:t>1</m:t>
                    </m:r>
                    <m:r>
                      <a:rPr lang="en-US" b="0" i="1" smtClean="0">
                        <a:solidFill>
                          <a:schemeClr val="accent2"/>
                        </a:solidFill>
                        <a:latin typeface="Cambria Math" panose="02040503050406030204" pitchFamily="18" charset="0"/>
                        <a:ea typeface="Cambria Math" panose="02040503050406030204" pitchFamily="18" charset="0"/>
                      </a:rPr>
                      <m:t>𝑥</m:t>
                    </m:r>
                  </m:oMath>
                </a14:m>
                <a:endParaRPr lang="en-US" dirty="0">
                  <a:solidFill>
                    <a:schemeClr val="accent2"/>
                  </a:solidFill>
                </a:endParaRPr>
              </a:p>
              <a:p>
                <a:pPr marL="101598" indent="0" algn="ctr">
                  <a:buNone/>
                </a:pPr>
                <a:endParaRPr lang="en-US" dirty="0"/>
              </a:p>
              <a:p>
                <a:pPr marL="101598" indent="0" algn="ctr">
                  <a:buNone/>
                </a:pPr>
                <a:endParaRPr lang="en-US" dirty="0"/>
              </a:p>
            </p:txBody>
          </p:sp>
        </mc:Choice>
        <mc:Fallback xmlns="">
          <p:sp>
            <p:nvSpPr>
              <p:cNvPr id="3" name="Text Placeholder 2">
                <a:extLst>
                  <a:ext uri="{FF2B5EF4-FFF2-40B4-BE49-F238E27FC236}">
                    <a16:creationId xmlns:a16="http://schemas.microsoft.com/office/drawing/2014/main" id="{8C890CEA-C442-C6EC-5932-3C6EF5B0FC09}"/>
                  </a:ext>
                </a:extLst>
              </p:cNvPr>
              <p:cNvSpPr>
                <a:spLocks noGrp="1" noRot="1" noChangeAspect="1" noMove="1" noResize="1" noEditPoints="1" noAdjustHandles="1" noChangeArrowheads="1" noChangeShapeType="1" noTextEdit="1"/>
              </p:cNvSpPr>
              <p:nvPr>
                <p:ph type="body" idx="1"/>
              </p:nvPr>
            </p:nvSpPr>
            <p:spPr>
              <a:xfrm>
                <a:off x="7951304" y="1265632"/>
                <a:ext cx="3496057" cy="652480"/>
              </a:xfrm>
              <a:blipFill>
                <a:blip r:embed="rId3"/>
                <a:stretch>
                  <a:fillRect t="-11321" r="-722" b="-11321"/>
                </a:stretch>
              </a:blipFill>
            </p:spPr>
            <p:txBody>
              <a:bodyPr/>
              <a:lstStyle/>
              <a:p>
                <a:r>
                  <a:rPr lang="en-US">
                    <a:noFill/>
                  </a:rPr>
                  <a:t> </a:t>
                </a:r>
              </a:p>
            </p:txBody>
          </p:sp>
        </mc:Fallback>
      </mc:AlternateContent>
      <p:cxnSp>
        <p:nvCxnSpPr>
          <p:cNvPr id="4" name="Google Shape;84;p17">
            <a:extLst>
              <a:ext uri="{FF2B5EF4-FFF2-40B4-BE49-F238E27FC236}">
                <a16:creationId xmlns:a16="http://schemas.microsoft.com/office/drawing/2014/main" id="{A7925DB8-B4EA-745F-033D-0117E5423604}"/>
              </a:ext>
            </a:extLst>
          </p:cNvPr>
          <p:cNvCxnSpPr/>
          <p:nvPr/>
        </p:nvCxnSpPr>
        <p:spPr>
          <a:xfrm rot="10800000" flipH="1">
            <a:off x="8105062" y="2596545"/>
            <a:ext cx="3342300" cy="2541600"/>
          </a:xfrm>
          <a:prstGeom prst="straightConnector1">
            <a:avLst/>
          </a:prstGeom>
          <a:noFill/>
          <a:ln w="9525" cap="flat" cmpd="sng">
            <a:solidFill>
              <a:schemeClr val="dk2"/>
            </a:solidFill>
            <a:prstDash val="solid"/>
            <a:round/>
            <a:headEnd type="none" w="med" len="med"/>
            <a:tailEnd type="none" w="med" len="med"/>
          </a:ln>
        </p:spPr>
      </p:cxnSp>
      <p:sp>
        <p:nvSpPr>
          <p:cNvPr id="5" name="Google Shape;85;p17">
            <a:extLst>
              <a:ext uri="{FF2B5EF4-FFF2-40B4-BE49-F238E27FC236}">
                <a16:creationId xmlns:a16="http://schemas.microsoft.com/office/drawing/2014/main" id="{5953993A-1401-3E80-1AA0-07BAA35B0AC9}"/>
              </a:ext>
            </a:extLst>
          </p:cNvPr>
          <p:cNvSpPr txBox="1"/>
          <p:nvPr/>
        </p:nvSpPr>
        <p:spPr>
          <a:xfrm rot="-5400000">
            <a:off x="6443326" y="3538704"/>
            <a:ext cx="1297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Mouse weight</a:t>
            </a:r>
            <a:endParaRPr dirty="0"/>
          </a:p>
        </p:txBody>
      </p:sp>
      <p:sp>
        <p:nvSpPr>
          <p:cNvPr id="6" name="Google Shape;86;p17">
            <a:extLst>
              <a:ext uri="{FF2B5EF4-FFF2-40B4-BE49-F238E27FC236}">
                <a16:creationId xmlns:a16="http://schemas.microsoft.com/office/drawing/2014/main" id="{F7BD566E-A82B-66C9-C34B-E9D16E6EC24F}"/>
              </a:ext>
            </a:extLst>
          </p:cNvPr>
          <p:cNvSpPr txBox="1"/>
          <p:nvPr/>
        </p:nvSpPr>
        <p:spPr>
          <a:xfrm>
            <a:off x="8746462" y="5649291"/>
            <a:ext cx="2059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Mouse Size</a:t>
            </a:r>
            <a:endParaRPr dirty="0"/>
          </a:p>
        </p:txBody>
      </p:sp>
      <p:pic>
        <p:nvPicPr>
          <p:cNvPr id="7" name="Google Shape;83;p17">
            <a:extLst>
              <a:ext uri="{FF2B5EF4-FFF2-40B4-BE49-F238E27FC236}">
                <a16:creationId xmlns:a16="http://schemas.microsoft.com/office/drawing/2014/main" id="{5EE11C66-FAF3-5C36-DB48-AB48296B881D}"/>
              </a:ext>
            </a:extLst>
          </p:cNvPr>
          <p:cNvPicPr preferRelativeResize="0"/>
          <p:nvPr/>
        </p:nvPicPr>
        <p:blipFill>
          <a:blip r:embed="rId4">
            <a:alphaModFix/>
          </a:blip>
          <a:stretch>
            <a:fillRect/>
          </a:stretch>
        </p:blipFill>
        <p:spPr>
          <a:xfrm>
            <a:off x="7762192" y="1828317"/>
            <a:ext cx="3685169" cy="3820974"/>
          </a:xfrm>
          <a:prstGeom prst="rect">
            <a:avLst/>
          </a:prstGeom>
          <a:noFill/>
          <a:ln>
            <a:noFill/>
          </a:ln>
        </p:spPr>
      </p:pic>
      <p:sp>
        <p:nvSpPr>
          <p:cNvPr id="8" name="TextBox 7">
            <a:extLst>
              <a:ext uri="{FF2B5EF4-FFF2-40B4-BE49-F238E27FC236}">
                <a16:creationId xmlns:a16="http://schemas.microsoft.com/office/drawing/2014/main" id="{ED6D002D-1667-5E20-65EC-96B91D5A9D7D}"/>
              </a:ext>
            </a:extLst>
          </p:cNvPr>
          <p:cNvSpPr txBox="1"/>
          <p:nvPr/>
        </p:nvSpPr>
        <p:spPr>
          <a:xfrm>
            <a:off x="609599" y="1430480"/>
            <a:ext cx="6700305" cy="4431983"/>
          </a:xfrm>
          <a:prstGeom prst="rect">
            <a:avLst/>
          </a:prstGeom>
          <a:noFill/>
        </p:spPr>
        <p:txBody>
          <a:bodyPr wrap="square" rtlCol="0">
            <a:spAutoFit/>
          </a:bodyPr>
          <a:lstStyle/>
          <a:p>
            <a:pPr marL="0" lvl="0" indent="0" algn="l" rtl="0">
              <a:spcBef>
                <a:spcPts val="0"/>
              </a:spcBef>
              <a:spcAft>
                <a:spcPts val="0"/>
              </a:spcAft>
              <a:buNone/>
            </a:pPr>
            <a:r>
              <a:rPr lang="en-US" sz="2400" dirty="0"/>
              <a:t>Suppose we have collected some data on mice size, and we are trying to predict mice weight from it. </a:t>
            </a:r>
          </a:p>
          <a:p>
            <a:pPr marL="0" lvl="0" indent="0" algn="l" rtl="0">
              <a:spcBef>
                <a:spcPts val="0"/>
              </a:spcBef>
              <a:spcAft>
                <a:spcPts val="0"/>
              </a:spcAft>
              <a:buNone/>
            </a:pPr>
            <a:endParaRPr lang="en-US" sz="2400" dirty="0"/>
          </a:p>
          <a:p>
            <a:pPr marL="0" lvl="0" indent="0" algn="l" rtl="0">
              <a:spcBef>
                <a:spcPts val="0"/>
              </a:spcBef>
              <a:spcAft>
                <a:spcPts val="0"/>
              </a:spcAft>
              <a:buNone/>
            </a:pPr>
            <a:r>
              <a:rPr lang="en-US" sz="2400" dirty="0"/>
              <a:t>That is a </a:t>
            </a:r>
            <a:r>
              <a:rPr lang="en-US" sz="2400" u="sng" dirty="0">
                <a:solidFill>
                  <a:schemeClr val="accent2"/>
                </a:solidFill>
              </a:rPr>
              <a:t>regression problem</a:t>
            </a:r>
            <a:r>
              <a:rPr lang="en-US" sz="2400" dirty="0">
                <a:solidFill>
                  <a:schemeClr val="accent2"/>
                </a:solidFill>
              </a:rPr>
              <a:t> </a:t>
            </a:r>
            <a:r>
              <a:rPr lang="en-US" sz="2400" dirty="0"/>
              <a:t>which would be trying to make quantitative predictions.</a:t>
            </a:r>
          </a:p>
          <a:p>
            <a:pPr marL="0" lvl="0" indent="0" algn="l" rtl="0">
              <a:spcBef>
                <a:spcPts val="0"/>
              </a:spcBef>
              <a:spcAft>
                <a:spcPts val="0"/>
              </a:spcAft>
              <a:buNone/>
            </a:pPr>
            <a:endParaRPr lang="en-US" sz="2400" dirty="0"/>
          </a:p>
          <a:p>
            <a:pPr marL="0" lvl="0" indent="0" algn="l" rtl="0">
              <a:spcBef>
                <a:spcPts val="0"/>
              </a:spcBef>
              <a:spcAft>
                <a:spcPts val="0"/>
              </a:spcAft>
              <a:buNone/>
            </a:pPr>
            <a:r>
              <a:rPr lang="en-US" sz="2400" dirty="0"/>
              <a:t>A simple way to imagine this is to fit a line on the experimental data </a:t>
            </a:r>
            <a:r>
              <a:rPr lang="en-US" sz="2400" dirty="0" err="1"/>
              <a:t>s.t.</a:t>
            </a:r>
            <a:r>
              <a:rPr lang="en-US" sz="2400" dirty="0"/>
              <a:t> the equation of the line produces mouse weight when we enter the mouse size as input.</a:t>
            </a:r>
          </a:p>
          <a:p>
            <a:endParaRPr lang="en-US" dirty="0"/>
          </a:p>
          <a:p>
            <a:r>
              <a:rPr lang="en-US" sz="2400" dirty="0"/>
              <a:t>We need an algorithm for finding the best fitted line.</a:t>
            </a:r>
          </a:p>
        </p:txBody>
      </p:sp>
    </p:spTree>
    <p:extLst>
      <p:ext uri="{BB962C8B-B14F-4D97-AF65-F5344CB8AC3E}">
        <p14:creationId xmlns:p14="http://schemas.microsoft.com/office/powerpoint/2010/main" val="31405952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0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513200" y="435468"/>
            <a:ext cx="11360800"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Baseline</a:t>
            </a:r>
            <a:endParaRPr dirty="0"/>
          </a:p>
        </p:txBody>
      </p:sp>
      <p:pic>
        <p:nvPicPr>
          <p:cNvPr id="92" name="Google Shape;92;p18"/>
          <p:cNvPicPr preferRelativeResize="0"/>
          <p:nvPr/>
        </p:nvPicPr>
        <p:blipFill>
          <a:blip r:embed="rId3">
            <a:alphaModFix/>
          </a:blip>
          <a:stretch>
            <a:fillRect/>
          </a:stretch>
        </p:blipFill>
        <p:spPr>
          <a:xfrm>
            <a:off x="3657599" y="1250066"/>
            <a:ext cx="4992929" cy="4860466"/>
          </a:xfrm>
          <a:prstGeom prst="rect">
            <a:avLst/>
          </a:prstGeom>
          <a:noFill/>
          <a:ln>
            <a:noFill/>
          </a:ln>
        </p:spPr>
      </p:pic>
      <p:cxnSp>
        <p:nvCxnSpPr>
          <p:cNvPr id="93" name="Google Shape;93;p18"/>
          <p:cNvCxnSpPr/>
          <p:nvPr/>
        </p:nvCxnSpPr>
        <p:spPr>
          <a:xfrm rot="10800000" flipH="1">
            <a:off x="3958128" y="3460689"/>
            <a:ext cx="4692400" cy="10400"/>
          </a:xfrm>
          <a:prstGeom prst="straightConnector1">
            <a:avLst/>
          </a:prstGeom>
          <a:noFill/>
          <a:ln w="28575" cap="flat" cmpd="sng">
            <a:solidFill>
              <a:schemeClr val="dk2"/>
            </a:solidFill>
            <a:prstDash val="solid"/>
            <a:round/>
            <a:headEnd type="none" w="med" len="med"/>
            <a:tailEnd type="none" w="med" len="med"/>
          </a:ln>
        </p:spPr>
      </p:cxnSp>
      <p:sp>
        <p:nvSpPr>
          <p:cNvPr id="94" name="Google Shape;94;p18"/>
          <p:cNvSpPr txBox="1"/>
          <p:nvPr/>
        </p:nvSpPr>
        <p:spPr>
          <a:xfrm rot="-5400000">
            <a:off x="2406605" y="3372542"/>
            <a:ext cx="2187004" cy="615513"/>
          </a:xfrm>
          <a:prstGeom prst="rect">
            <a:avLst/>
          </a:prstGeom>
          <a:noFill/>
          <a:ln>
            <a:noFill/>
          </a:ln>
        </p:spPr>
        <p:txBody>
          <a:bodyPr spcFirstLastPara="1" wrap="square" lIns="121900" tIns="121900" rIns="121900" bIns="121900" anchor="t" anchorCtr="0">
            <a:spAutoFit/>
          </a:bodyPr>
          <a:lstStyle/>
          <a:p>
            <a:pPr algn="ctr"/>
            <a:r>
              <a:rPr lang="en" sz="2400" dirty="0"/>
              <a:t>Mouse weight</a:t>
            </a:r>
            <a:endParaRPr sz="2400" dirty="0"/>
          </a:p>
        </p:txBody>
      </p:sp>
      <p:sp>
        <p:nvSpPr>
          <p:cNvPr id="95" name="Google Shape;95;p18"/>
          <p:cNvSpPr txBox="1"/>
          <p:nvPr/>
        </p:nvSpPr>
        <p:spPr>
          <a:xfrm>
            <a:off x="5003400" y="5807976"/>
            <a:ext cx="2746000" cy="615513"/>
          </a:xfrm>
          <a:prstGeom prst="rect">
            <a:avLst/>
          </a:prstGeom>
          <a:noFill/>
          <a:ln>
            <a:noFill/>
          </a:ln>
        </p:spPr>
        <p:txBody>
          <a:bodyPr spcFirstLastPara="1" wrap="square" lIns="121900" tIns="121900" rIns="121900" bIns="121900" anchor="t" anchorCtr="0">
            <a:spAutoFit/>
          </a:bodyPr>
          <a:lstStyle/>
          <a:p>
            <a:pPr algn="ctr"/>
            <a:r>
              <a:rPr lang="en" sz="2400" dirty="0"/>
              <a:t>Mouse Size</a:t>
            </a:r>
            <a:endParaRPr sz="2400" dirty="0"/>
          </a:p>
        </p:txBody>
      </p:sp>
      <p:cxnSp>
        <p:nvCxnSpPr>
          <p:cNvPr id="96" name="Google Shape;96;p18"/>
          <p:cNvCxnSpPr/>
          <p:nvPr/>
        </p:nvCxnSpPr>
        <p:spPr>
          <a:xfrm>
            <a:off x="5556800" y="2061889"/>
            <a:ext cx="819600" cy="1409200"/>
          </a:xfrm>
          <a:prstGeom prst="straightConnector1">
            <a:avLst/>
          </a:prstGeom>
          <a:noFill/>
          <a:ln w="19050" cap="flat" cmpd="sng">
            <a:solidFill>
              <a:schemeClr val="dk2"/>
            </a:solidFill>
            <a:prstDash val="solid"/>
            <a:round/>
            <a:headEnd type="none" w="med" len="med"/>
            <a:tailEnd type="triangle" w="med" len="med"/>
          </a:ln>
        </p:spPr>
      </p:cxnSp>
      <p:sp>
        <p:nvSpPr>
          <p:cNvPr id="97" name="Google Shape;97;p18"/>
          <p:cNvSpPr txBox="1"/>
          <p:nvPr/>
        </p:nvSpPr>
        <p:spPr>
          <a:xfrm>
            <a:off x="4514400" y="1470472"/>
            <a:ext cx="1581600" cy="984845"/>
          </a:xfrm>
          <a:prstGeom prst="rect">
            <a:avLst/>
          </a:prstGeom>
          <a:noFill/>
          <a:ln>
            <a:noFill/>
          </a:ln>
        </p:spPr>
        <p:txBody>
          <a:bodyPr spcFirstLastPara="1" wrap="square" lIns="121900" tIns="121900" rIns="121900" bIns="121900" anchor="t" anchorCtr="0">
            <a:spAutoFit/>
          </a:bodyPr>
          <a:lstStyle/>
          <a:p>
            <a:r>
              <a:rPr lang="en" sz="1600" dirty="0"/>
              <a:t>First, draw a line through data mean</a:t>
            </a:r>
            <a:endParaRPr sz="1600"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601884" y="400625"/>
            <a:ext cx="11197666"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Residuals</a:t>
            </a:r>
            <a:endParaRPr dirty="0"/>
          </a:p>
        </p:txBody>
      </p:sp>
      <p:pic>
        <p:nvPicPr>
          <p:cNvPr id="103" name="Google Shape;103;p19"/>
          <p:cNvPicPr preferRelativeResize="0"/>
          <p:nvPr/>
        </p:nvPicPr>
        <p:blipFill>
          <a:blip r:embed="rId3">
            <a:alphaModFix/>
          </a:blip>
          <a:stretch>
            <a:fillRect/>
          </a:stretch>
        </p:blipFill>
        <p:spPr>
          <a:xfrm>
            <a:off x="5660021" y="1305759"/>
            <a:ext cx="6018834" cy="5069712"/>
          </a:xfrm>
          <a:prstGeom prst="rect">
            <a:avLst/>
          </a:prstGeom>
          <a:noFill/>
          <a:ln>
            <a:noFill/>
          </a:ln>
        </p:spPr>
      </p:pic>
      <p:sp>
        <p:nvSpPr>
          <p:cNvPr id="104" name="Google Shape;104;p19"/>
          <p:cNvSpPr txBox="1"/>
          <p:nvPr/>
        </p:nvSpPr>
        <p:spPr>
          <a:xfrm>
            <a:off x="9493150" y="3773937"/>
            <a:ext cx="2306400" cy="1723508"/>
          </a:xfrm>
          <a:prstGeom prst="rect">
            <a:avLst/>
          </a:prstGeom>
          <a:noFill/>
          <a:ln>
            <a:noFill/>
          </a:ln>
        </p:spPr>
        <p:txBody>
          <a:bodyPr spcFirstLastPara="1" wrap="square" lIns="121900" tIns="121900" rIns="121900" bIns="121900" anchor="t" anchorCtr="0">
            <a:spAutoFit/>
          </a:bodyPr>
          <a:lstStyle/>
          <a:p>
            <a:r>
              <a:rPr lang="en" sz="2400" dirty="0"/>
              <a:t>Distance from a line to a data point is called “</a:t>
            </a:r>
            <a:r>
              <a:rPr lang="en" sz="2400" b="1" dirty="0"/>
              <a:t>residual</a:t>
            </a:r>
            <a:r>
              <a:rPr lang="en" sz="2400" dirty="0"/>
              <a:t>”</a:t>
            </a:r>
            <a:endParaRPr sz="2400" dirty="0"/>
          </a:p>
        </p:txBody>
      </p:sp>
      <p:sp>
        <p:nvSpPr>
          <p:cNvPr id="2" name="TextBox 1">
            <a:extLst>
              <a:ext uri="{FF2B5EF4-FFF2-40B4-BE49-F238E27FC236}">
                <a16:creationId xmlns:a16="http://schemas.microsoft.com/office/drawing/2014/main" id="{E343123B-682A-652B-A857-BEBE3529D510}"/>
              </a:ext>
            </a:extLst>
          </p:cNvPr>
          <p:cNvSpPr txBox="1"/>
          <p:nvPr/>
        </p:nvSpPr>
        <p:spPr>
          <a:xfrm>
            <a:off x="601885" y="1574157"/>
            <a:ext cx="4937442" cy="4431983"/>
          </a:xfrm>
          <a:prstGeom prst="rect">
            <a:avLst/>
          </a:prstGeom>
          <a:noFill/>
        </p:spPr>
        <p:txBody>
          <a:bodyPr wrap="square" rtlCol="0">
            <a:spAutoFit/>
          </a:bodyPr>
          <a:lstStyle/>
          <a:p>
            <a:r>
              <a:rPr lang="en-US" sz="2400" dirty="0"/>
              <a:t>Next an important part of line fitting is to measure the distance between a datapoint and the predicted value. </a:t>
            </a:r>
            <a:br>
              <a:rPr lang="en-US" sz="2400" dirty="0"/>
            </a:br>
            <a:endParaRPr lang="en-US" sz="2400" dirty="0"/>
          </a:p>
          <a:p>
            <a:r>
              <a:rPr lang="en-US" sz="2400" dirty="0"/>
              <a:t>This is essentially the length of the </a:t>
            </a:r>
            <a:r>
              <a:rPr lang="en-US" sz="2400" b="1" u="sng" dirty="0">
                <a:solidFill>
                  <a:schemeClr val="accent2"/>
                </a:solidFill>
              </a:rPr>
              <a:t>orthogonal distance</a:t>
            </a:r>
            <a:r>
              <a:rPr lang="en-US" sz="2400" dirty="0"/>
              <a:t>, dropped from the point to the fitted line. </a:t>
            </a:r>
            <a:br>
              <a:rPr lang="en-US" sz="2400" dirty="0"/>
            </a:br>
            <a:endParaRPr lang="en-US" sz="2400" dirty="0"/>
          </a:p>
          <a:p>
            <a:r>
              <a:rPr lang="en-US" sz="2400" dirty="0"/>
              <a:t>This is called a </a:t>
            </a:r>
            <a:r>
              <a:rPr lang="en-US" sz="2400" b="1" u="sng" dirty="0">
                <a:solidFill>
                  <a:schemeClr val="accent2"/>
                </a:solidFill>
              </a:rPr>
              <a:t>residual</a:t>
            </a:r>
            <a:r>
              <a:rPr lang="en-US" sz="2400" dirty="0"/>
              <a:t> for a prediction, and it will be an important part of optimizing the fitted line.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601884" y="400625"/>
            <a:ext cx="11197666"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Residuals</a:t>
            </a:r>
            <a:endParaRPr dirty="0"/>
          </a:p>
        </p:txBody>
      </p:sp>
      <p:pic>
        <p:nvPicPr>
          <p:cNvPr id="103" name="Google Shape;103;p19"/>
          <p:cNvPicPr preferRelativeResize="0"/>
          <p:nvPr/>
        </p:nvPicPr>
        <p:blipFill>
          <a:blip r:embed="rId3">
            <a:alphaModFix/>
          </a:blip>
          <a:stretch>
            <a:fillRect/>
          </a:stretch>
        </p:blipFill>
        <p:spPr>
          <a:xfrm>
            <a:off x="5780716" y="1239081"/>
            <a:ext cx="6018834" cy="5069712"/>
          </a:xfrm>
          <a:prstGeom prst="rect">
            <a:avLst/>
          </a:prstGeom>
          <a:noFill/>
          <a:ln>
            <a:noFill/>
          </a:ln>
        </p:spPr>
      </p:pic>
      <p:sp>
        <p:nvSpPr>
          <p:cNvPr id="104" name="Google Shape;104;p19"/>
          <p:cNvSpPr txBox="1"/>
          <p:nvPr/>
        </p:nvSpPr>
        <p:spPr>
          <a:xfrm>
            <a:off x="9597322" y="3752582"/>
            <a:ext cx="2306400" cy="1723508"/>
          </a:xfrm>
          <a:prstGeom prst="rect">
            <a:avLst/>
          </a:prstGeom>
          <a:noFill/>
          <a:ln>
            <a:noFill/>
          </a:ln>
        </p:spPr>
        <p:txBody>
          <a:bodyPr spcFirstLastPara="1" wrap="square" lIns="121900" tIns="121900" rIns="121900" bIns="121900" anchor="t" anchorCtr="0">
            <a:spAutoFit/>
          </a:bodyPr>
          <a:lstStyle/>
          <a:p>
            <a:r>
              <a:rPr lang="en" sz="2400" dirty="0"/>
              <a:t>Distance from a line to a data point is called “</a:t>
            </a:r>
            <a:r>
              <a:rPr lang="en" sz="2400" b="1" dirty="0"/>
              <a:t>residual</a:t>
            </a:r>
            <a:r>
              <a:rPr lang="en" sz="2400" dirty="0"/>
              <a:t>”</a:t>
            </a:r>
            <a:endParaRPr sz="2400" dirty="0"/>
          </a:p>
        </p:txBody>
      </p:sp>
      <p:sp>
        <p:nvSpPr>
          <p:cNvPr id="2" name="TextBox 1">
            <a:extLst>
              <a:ext uri="{FF2B5EF4-FFF2-40B4-BE49-F238E27FC236}">
                <a16:creationId xmlns:a16="http://schemas.microsoft.com/office/drawing/2014/main" id="{E343123B-682A-652B-A857-BEBE3529D510}"/>
              </a:ext>
            </a:extLst>
          </p:cNvPr>
          <p:cNvSpPr txBox="1"/>
          <p:nvPr/>
        </p:nvSpPr>
        <p:spPr>
          <a:xfrm>
            <a:off x="601884" y="1305759"/>
            <a:ext cx="5494115" cy="4893647"/>
          </a:xfrm>
          <a:prstGeom prst="rect">
            <a:avLst/>
          </a:prstGeom>
          <a:noFill/>
        </p:spPr>
        <p:txBody>
          <a:bodyPr wrap="square" rtlCol="0">
            <a:spAutoFit/>
          </a:bodyPr>
          <a:lstStyle/>
          <a:p>
            <a:r>
              <a:rPr lang="en-US" sz="2400" dirty="0"/>
              <a:t>Residuals could be positive or negative depending on if the y-value is above or below the line.</a:t>
            </a:r>
          </a:p>
          <a:p>
            <a:endParaRPr lang="en-US" sz="2400" dirty="0"/>
          </a:p>
          <a:p>
            <a:r>
              <a:rPr lang="en-US" sz="2400" dirty="0"/>
              <a:t>Directly summing positive and negative residuals would typically lead to a misleading aggregate error.</a:t>
            </a:r>
          </a:p>
          <a:p>
            <a:r>
              <a:rPr lang="en-US" sz="2400" dirty="0"/>
              <a:t>Makes the fit appear better than it is!</a:t>
            </a:r>
          </a:p>
          <a:p>
            <a:endParaRPr lang="en-US" sz="2400" dirty="0"/>
          </a:p>
          <a:p>
            <a:r>
              <a:rPr lang="en-US" sz="2400" b="1" i="1" dirty="0">
                <a:solidFill>
                  <a:schemeClr val="accent2"/>
                </a:solidFill>
              </a:rPr>
              <a:t>Sum of absolute residuals or squared residuals</a:t>
            </a:r>
            <a:r>
              <a:rPr lang="en-US" sz="2400" dirty="0">
                <a:solidFill>
                  <a:schemeClr val="accent2"/>
                </a:solidFill>
              </a:rPr>
              <a:t> </a:t>
            </a:r>
            <a:r>
              <a:rPr lang="en-US" sz="2400" dirty="0"/>
              <a:t>fixes this. </a:t>
            </a:r>
            <a:br>
              <a:rPr lang="en-US" sz="2400" dirty="0"/>
            </a:br>
            <a:r>
              <a:rPr lang="en-US" sz="2400" dirty="0"/>
              <a:t>Later is preferred  to facilitate a convex function for optimization</a:t>
            </a:r>
          </a:p>
        </p:txBody>
      </p:sp>
    </p:spTree>
    <p:extLst>
      <p:ext uri="{BB962C8B-B14F-4D97-AF65-F5344CB8AC3E}">
        <p14:creationId xmlns:p14="http://schemas.microsoft.com/office/powerpoint/2010/main" val="27658567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636608" y="310461"/>
            <a:ext cx="11239016" cy="615514"/>
          </a:xfrm>
          <a:prstGeom prst="rect">
            <a:avLst/>
          </a:prstGeom>
        </p:spPr>
        <p:txBody>
          <a:bodyPr spcFirstLastPara="1" vert="horz" wrap="square" lIns="121900" tIns="121900" rIns="121900" bIns="121900" rtlCol="0" anchor="t" anchorCtr="0">
            <a:normAutofit fontScale="90000"/>
          </a:bodyPr>
          <a:lstStyle/>
          <a:p>
            <a:pPr>
              <a:buClr>
                <a:schemeClr val="dk1"/>
              </a:buClr>
              <a:buSzPct val="39285"/>
            </a:pPr>
            <a:r>
              <a:rPr lang="en" sz="4000" dirty="0"/>
              <a:t>Fitting a line to data : Ordinary Least Squares</a:t>
            </a:r>
            <a:endParaRPr sz="4000" dirty="0"/>
          </a:p>
        </p:txBody>
      </p:sp>
      <p:pic>
        <p:nvPicPr>
          <p:cNvPr id="110" name="Google Shape;110;p20"/>
          <p:cNvPicPr preferRelativeResize="0"/>
          <p:nvPr/>
        </p:nvPicPr>
        <p:blipFill>
          <a:blip r:embed="rId3">
            <a:alphaModFix/>
          </a:blip>
          <a:stretch>
            <a:fillRect/>
          </a:stretch>
        </p:blipFill>
        <p:spPr>
          <a:xfrm>
            <a:off x="5150734" y="1403555"/>
            <a:ext cx="5155465" cy="4977113"/>
          </a:xfrm>
          <a:prstGeom prst="rect">
            <a:avLst/>
          </a:prstGeom>
          <a:noFill/>
          <a:ln>
            <a:noFill/>
          </a:ln>
        </p:spPr>
      </p:pic>
      <p:sp>
        <p:nvSpPr>
          <p:cNvPr id="111" name="Google Shape;111;p20"/>
          <p:cNvSpPr txBox="1"/>
          <p:nvPr/>
        </p:nvSpPr>
        <p:spPr>
          <a:xfrm>
            <a:off x="8776253" y="1722288"/>
            <a:ext cx="2527600" cy="615513"/>
          </a:xfrm>
          <a:prstGeom prst="rect">
            <a:avLst/>
          </a:prstGeom>
          <a:noFill/>
          <a:ln>
            <a:noFill/>
          </a:ln>
        </p:spPr>
        <p:txBody>
          <a:bodyPr spcFirstLastPara="1" wrap="square" lIns="121900" tIns="121900" rIns="121900" bIns="121900" anchor="t" anchorCtr="0">
            <a:spAutoFit/>
          </a:bodyPr>
          <a:lstStyle/>
          <a:p>
            <a:pPr algn="ctr"/>
            <a:r>
              <a:rPr lang="en" sz="2400" dirty="0"/>
              <a:t>Rotate fitted line</a:t>
            </a:r>
            <a:endParaRPr sz="2400" dirty="0"/>
          </a:p>
        </p:txBody>
      </p:sp>
      <p:sp>
        <p:nvSpPr>
          <p:cNvPr id="112" name="Google Shape;112;p20"/>
          <p:cNvSpPr txBox="1"/>
          <p:nvPr/>
        </p:nvSpPr>
        <p:spPr>
          <a:xfrm>
            <a:off x="8776253" y="2982252"/>
            <a:ext cx="2527600" cy="1354176"/>
          </a:xfrm>
          <a:prstGeom prst="rect">
            <a:avLst/>
          </a:prstGeom>
          <a:noFill/>
          <a:ln>
            <a:noFill/>
          </a:ln>
        </p:spPr>
        <p:txBody>
          <a:bodyPr spcFirstLastPara="1" wrap="square" lIns="121900" tIns="121900" rIns="121900" bIns="121900" anchor="t" anchorCtr="0">
            <a:spAutoFit/>
          </a:bodyPr>
          <a:lstStyle/>
          <a:p>
            <a:pPr algn="ctr"/>
            <a:r>
              <a:rPr lang="en" sz="2400" dirty="0"/>
              <a:t>Measure residuals, square them up</a:t>
            </a:r>
            <a:endParaRPr sz="2400" dirty="0"/>
          </a:p>
        </p:txBody>
      </p:sp>
      <p:sp>
        <p:nvSpPr>
          <p:cNvPr id="113" name="Google Shape;113;p20"/>
          <p:cNvSpPr txBox="1"/>
          <p:nvPr/>
        </p:nvSpPr>
        <p:spPr>
          <a:xfrm>
            <a:off x="8776254" y="4469600"/>
            <a:ext cx="2527599" cy="984845"/>
          </a:xfrm>
          <a:prstGeom prst="rect">
            <a:avLst/>
          </a:prstGeom>
          <a:noFill/>
          <a:ln>
            <a:noFill/>
          </a:ln>
        </p:spPr>
        <p:txBody>
          <a:bodyPr spcFirstLastPara="1" wrap="square" lIns="121900" tIns="121900" rIns="121900" bIns="121900" anchor="t" anchorCtr="0">
            <a:spAutoFit/>
          </a:bodyPr>
          <a:lstStyle/>
          <a:p>
            <a:pPr algn="ctr"/>
            <a:r>
              <a:rPr lang="en" sz="2400" dirty="0"/>
              <a:t>Sum up squared residuals</a:t>
            </a:r>
            <a:endParaRPr sz="2400" dirty="0"/>
          </a:p>
        </p:txBody>
      </p:sp>
      <p:sp>
        <p:nvSpPr>
          <p:cNvPr id="2" name="TextBox 1">
            <a:extLst>
              <a:ext uri="{FF2B5EF4-FFF2-40B4-BE49-F238E27FC236}">
                <a16:creationId xmlns:a16="http://schemas.microsoft.com/office/drawing/2014/main" id="{FD71B4A4-8E31-F55C-4754-87A198D8E317}"/>
              </a:ext>
            </a:extLst>
          </p:cNvPr>
          <p:cNvSpPr txBox="1"/>
          <p:nvPr/>
        </p:nvSpPr>
        <p:spPr>
          <a:xfrm>
            <a:off x="532435" y="1284694"/>
            <a:ext cx="4618299" cy="5170646"/>
          </a:xfrm>
          <a:prstGeom prst="rect">
            <a:avLst/>
          </a:prstGeom>
          <a:noFill/>
        </p:spPr>
        <p:txBody>
          <a:bodyPr wrap="square" rtlCol="0">
            <a:spAutoFit/>
          </a:bodyPr>
          <a:lstStyle/>
          <a:p>
            <a:pPr marL="0" lvl="0" indent="0" algn="l" rtl="0">
              <a:spcBef>
                <a:spcPts val="0"/>
              </a:spcBef>
              <a:spcAft>
                <a:spcPts val="0"/>
              </a:spcAft>
              <a:buNone/>
            </a:pPr>
            <a:r>
              <a:rPr lang="en-US" sz="2400" dirty="0"/>
              <a:t>Think of the fitting as an </a:t>
            </a:r>
            <a:r>
              <a:rPr lang="en-US" sz="2400" i="1" dirty="0">
                <a:solidFill>
                  <a:schemeClr val="accent2"/>
                </a:solidFill>
              </a:rPr>
              <a:t>iterative process</a:t>
            </a:r>
            <a:r>
              <a:rPr lang="en-US" sz="2400" dirty="0"/>
              <a:t> where each iteration essentially consists of 3 steps:</a:t>
            </a:r>
          </a:p>
          <a:p>
            <a:pPr marL="457200" indent="-298450">
              <a:buSzPct val="80000"/>
              <a:buFontTx/>
              <a:buAutoNum type="arabicPeriod"/>
            </a:pPr>
            <a:r>
              <a:rPr lang="en-US" sz="2400" dirty="0"/>
              <a:t>Start with a line</a:t>
            </a:r>
          </a:p>
          <a:p>
            <a:pPr marL="457200" indent="-298450">
              <a:buSzPct val="80000"/>
              <a:buFontTx/>
              <a:buAutoNum type="arabicPeriod"/>
            </a:pPr>
            <a:r>
              <a:rPr lang="en-US" sz="2400" dirty="0"/>
              <a:t>Measure residuals for every predicted point and square them up</a:t>
            </a:r>
          </a:p>
          <a:p>
            <a:pPr marL="457200" indent="-298450">
              <a:buSzPct val="80000"/>
              <a:buFontTx/>
              <a:buAutoNum type="arabicPeriod"/>
            </a:pPr>
            <a:r>
              <a:rPr lang="en-US" sz="2400" dirty="0"/>
              <a:t>Sum up the squared residuals to obtain the </a:t>
            </a:r>
            <a:r>
              <a:rPr lang="en-US" sz="2400" b="1" dirty="0">
                <a:solidFill>
                  <a:schemeClr val="accent2"/>
                </a:solidFill>
              </a:rPr>
              <a:t>squared loss</a:t>
            </a:r>
            <a:r>
              <a:rPr lang="en-US" sz="2400" dirty="0"/>
              <a:t> corresponding to the current fit</a:t>
            </a:r>
          </a:p>
          <a:p>
            <a:pPr marL="0" lvl="0" indent="0" algn="l" rtl="0">
              <a:spcBef>
                <a:spcPts val="0"/>
              </a:spcBef>
              <a:spcAft>
                <a:spcPts val="0"/>
              </a:spcAft>
              <a:buNone/>
            </a:pPr>
            <a:r>
              <a:rPr lang="en-US" sz="2400" i="1" dirty="0">
                <a:solidFill>
                  <a:schemeClr val="accent2"/>
                </a:solidFill>
              </a:rPr>
              <a:t>Next</a:t>
            </a:r>
            <a:r>
              <a:rPr lang="en-US" sz="2400" dirty="0"/>
              <a:t>, we rotate the line slightly and repeat all the three steps that I just described.</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1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467966" y="347240"/>
            <a:ext cx="11488681" cy="844951"/>
          </a:xfrm>
          <a:prstGeom prst="rect">
            <a:avLst/>
          </a:prstGeom>
        </p:spPr>
        <p:txBody>
          <a:bodyPr spcFirstLastPara="1" vert="horz" wrap="square" lIns="121900" tIns="121900" rIns="121900" bIns="121900" rtlCol="0" anchor="t" anchorCtr="0">
            <a:normAutofit/>
          </a:bodyPr>
          <a:lstStyle/>
          <a:p>
            <a:pPr>
              <a:buClr>
                <a:schemeClr val="dk1"/>
              </a:buClr>
              <a:buSzPct val="39285"/>
            </a:pPr>
            <a:r>
              <a:rPr lang="en" sz="4000" dirty="0"/>
              <a:t>Fitting a line to data : Ordinary Least Squares</a:t>
            </a:r>
            <a:endParaRPr sz="4000" dirty="0"/>
          </a:p>
        </p:txBody>
      </p:sp>
      <p:pic>
        <p:nvPicPr>
          <p:cNvPr id="119" name="Google Shape;119;p21"/>
          <p:cNvPicPr preferRelativeResize="0"/>
          <p:nvPr/>
        </p:nvPicPr>
        <p:blipFill>
          <a:blip r:embed="rId3">
            <a:alphaModFix/>
          </a:blip>
          <a:stretch>
            <a:fillRect/>
          </a:stretch>
        </p:blipFill>
        <p:spPr>
          <a:xfrm>
            <a:off x="6212306" y="1452500"/>
            <a:ext cx="4518945" cy="4907328"/>
          </a:xfrm>
          <a:prstGeom prst="rect">
            <a:avLst/>
          </a:prstGeom>
          <a:noFill/>
          <a:ln>
            <a:noFill/>
          </a:ln>
        </p:spPr>
      </p:pic>
      <p:cxnSp>
        <p:nvCxnSpPr>
          <p:cNvPr id="120" name="Google Shape;120;p21"/>
          <p:cNvCxnSpPr>
            <a:cxnSpLocks/>
          </p:cNvCxnSpPr>
          <p:nvPr/>
        </p:nvCxnSpPr>
        <p:spPr>
          <a:xfrm flipH="1">
            <a:off x="8520122" y="4571181"/>
            <a:ext cx="754200" cy="844654"/>
          </a:xfrm>
          <a:prstGeom prst="straightConnector1">
            <a:avLst/>
          </a:prstGeom>
          <a:noFill/>
          <a:ln w="19050" cap="flat" cmpd="sng">
            <a:solidFill>
              <a:schemeClr val="dk2"/>
            </a:solidFill>
            <a:prstDash val="solid"/>
            <a:round/>
            <a:headEnd type="none" w="med" len="med"/>
            <a:tailEnd type="triangle" w="med" len="med"/>
          </a:ln>
        </p:spPr>
      </p:cxnSp>
      <p:sp>
        <p:nvSpPr>
          <p:cNvPr id="121" name="Google Shape;121;p21"/>
          <p:cNvSpPr txBox="1"/>
          <p:nvPr/>
        </p:nvSpPr>
        <p:spPr>
          <a:xfrm>
            <a:off x="9252934" y="4173578"/>
            <a:ext cx="2126400" cy="984845"/>
          </a:xfrm>
          <a:prstGeom prst="rect">
            <a:avLst/>
          </a:prstGeom>
          <a:noFill/>
          <a:ln>
            <a:noFill/>
          </a:ln>
        </p:spPr>
        <p:txBody>
          <a:bodyPr spcFirstLastPara="1" wrap="square" lIns="121900" tIns="121900" rIns="121900" bIns="121900" anchor="t" anchorCtr="0">
            <a:spAutoFit/>
          </a:bodyPr>
          <a:lstStyle/>
          <a:p>
            <a:r>
              <a:rPr lang="en" sz="1600" dirty="0"/>
              <a:t>Find the fitted line that has the least sum of squared residuals</a:t>
            </a:r>
            <a:endParaRPr sz="1600" dirty="0"/>
          </a:p>
        </p:txBody>
      </p:sp>
      <p:cxnSp>
        <p:nvCxnSpPr>
          <p:cNvPr id="122" name="Google Shape;122;p21"/>
          <p:cNvCxnSpPr/>
          <p:nvPr/>
        </p:nvCxnSpPr>
        <p:spPr>
          <a:xfrm rot="10800000">
            <a:off x="8520122" y="3963625"/>
            <a:ext cx="838000" cy="544800"/>
          </a:xfrm>
          <a:prstGeom prst="straightConnector1">
            <a:avLst/>
          </a:prstGeom>
          <a:noFill/>
          <a:ln w="19050" cap="flat" cmpd="sng">
            <a:solidFill>
              <a:schemeClr val="dk2"/>
            </a:solidFill>
            <a:prstDash val="solid"/>
            <a:round/>
            <a:headEnd type="none" w="med" len="med"/>
            <a:tailEnd type="triangle" w="med" len="med"/>
          </a:ln>
        </p:spPr>
      </p:cxnSp>
      <p:sp>
        <p:nvSpPr>
          <p:cNvPr id="123" name="Google Shape;123;p21"/>
          <p:cNvSpPr txBox="1"/>
          <p:nvPr/>
        </p:nvSpPr>
        <p:spPr>
          <a:xfrm>
            <a:off x="9274322" y="1909530"/>
            <a:ext cx="2126400" cy="984845"/>
          </a:xfrm>
          <a:prstGeom prst="rect">
            <a:avLst/>
          </a:prstGeom>
          <a:noFill/>
          <a:ln>
            <a:noFill/>
          </a:ln>
        </p:spPr>
        <p:txBody>
          <a:bodyPr spcFirstLastPara="1" wrap="square" lIns="121900" tIns="121900" rIns="121900" bIns="121900" anchor="t" anchorCtr="0">
            <a:spAutoFit/>
          </a:bodyPr>
          <a:lstStyle/>
          <a:p>
            <a:r>
              <a:rPr lang="en" sz="1600" dirty="0"/>
              <a:t>Line with the “least squares” will be the best fit for the data</a:t>
            </a:r>
            <a:endParaRPr sz="1600" dirty="0"/>
          </a:p>
        </p:txBody>
      </p:sp>
      <p:sp>
        <p:nvSpPr>
          <p:cNvPr id="124" name="Google Shape;124;p21"/>
          <p:cNvSpPr/>
          <p:nvPr/>
        </p:nvSpPr>
        <p:spPr>
          <a:xfrm>
            <a:off x="8203180" y="5611245"/>
            <a:ext cx="537196" cy="496207"/>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TextBox 1">
            <a:extLst>
              <a:ext uri="{FF2B5EF4-FFF2-40B4-BE49-F238E27FC236}">
                <a16:creationId xmlns:a16="http://schemas.microsoft.com/office/drawing/2014/main" id="{1E508EC8-7FEA-7399-1B87-7123A3245316}"/>
              </a:ext>
            </a:extLst>
          </p:cNvPr>
          <p:cNvSpPr txBox="1"/>
          <p:nvPr/>
        </p:nvSpPr>
        <p:spPr>
          <a:xfrm>
            <a:off x="467966" y="1373848"/>
            <a:ext cx="5628033" cy="4985980"/>
          </a:xfrm>
          <a:prstGeom prst="rect">
            <a:avLst/>
          </a:prstGeom>
          <a:noFill/>
        </p:spPr>
        <p:txBody>
          <a:bodyPr wrap="square" rtlCol="0">
            <a:spAutoFit/>
          </a:bodyPr>
          <a:lstStyle/>
          <a:p>
            <a:r>
              <a:rPr lang="en-US" sz="3000" dirty="0"/>
              <a:t>Then we plot the sum of squared residuals for every line we attempt to fit on the data.</a:t>
            </a:r>
            <a:br>
              <a:rPr lang="en-US" sz="3000" dirty="0"/>
            </a:br>
            <a:endParaRPr lang="en-US" sz="3000" dirty="0"/>
          </a:p>
          <a:p>
            <a:r>
              <a:rPr lang="en-US" sz="3000" dirty="0"/>
              <a:t>The optimal fitted line for the data would be the one that yields the lowest sum of squared residuals.</a:t>
            </a:r>
            <a:br>
              <a:rPr lang="en-US" sz="3000" dirty="0"/>
            </a:br>
            <a:r>
              <a:rPr lang="en-US" sz="3000" dirty="0"/>
              <a:t> </a:t>
            </a:r>
          </a:p>
          <a:p>
            <a:r>
              <a:rPr lang="en-US" sz="3000" dirty="0"/>
              <a:t>Hence this method is called the </a:t>
            </a:r>
            <a:r>
              <a:rPr lang="en-US" sz="3000" b="1" dirty="0">
                <a:solidFill>
                  <a:schemeClr val="accent2"/>
                </a:solidFill>
              </a:rPr>
              <a:t>least squares method</a:t>
            </a:r>
            <a:r>
              <a:rPr lang="en-US" sz="3000"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2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2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8644-0047-CC99-05A3-C1845FEA690D}"/>
              </a:ext>
            </a:extLst>
          </p:cNvPr>
          <p:cNvSpPr>
            <a:spLocks noGrp="1"/>
          </p:cNvSpPr>
          <p:nvPr>
            <p:ph type="title"/>
          </p:nvPr>
        </p:nvSpPr>
        <p:spPr/>
        <p:txBody>
          <a:bodyPr>
            <a:normAutofit/>
          </a:bodyPr>
          <a:lstStyle/>
          <a:p>
            <a:r>
              <a:rPr lang="en-US" sz="4000" dirty="0"/>
              <a:t>Ordinary Least Squares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2268B80-A6E7-DF2A-501F-5B6B6EB9088F}"/>
                  </a:ext>
                </a:extLst>
              </p:cNvPr>
              <p:cNvSpPr>
                <a:spLocks noGrp="1"/>
              </p:cNvSpPr>
              <p:nvPr>
                <p:ph type="body" idx="1"/>
              </p:nvPr>
            </p:nvSpPr>
            <p:spPr>
              <a:xfrm>
                <a:off x="609600" y="1295400"/>
                <a:ext cx="10952480" cy="4922520"/>
              </a:xfrm>
            </p:spPr>
            <p:txBody>
              <a:bodyPr>
                <a:normAutofit fontScale="92500" lnSpcReduction="10000"/>
              </a:bodyPr>
              <a:lstStyle/>
              <a:p>
                <a:pPr>
                  <a:buClr>
                    <a:schemeClr val="tx1"/>
                  </a:buClr>
                </a:pPr>
                <a:r>
                  <a:rPr lang="en-US" sz="2400" dirty="0"/>
                  <a:t>Decide the best parameter values for the regression line,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a14:m>
                <a:r>
                  <a:rPr lang="en-US" sz="2400" dirty="0"/>
                  <a:t> =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r>
                      <a:rPr lang="en-US" sz="2400" b="0" i="1" baseline="-25000" smtClean="0">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𝛽</m:t>
                    </m:r>
                    <m:r>
                      <a:rPr lang="en-US" sz="2400" b="0" i="1" baseline="-25000"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𝑥</m:t>
                    </m:r>
                  </m:oMath>
                </a14:m>
                <a:endParaRPr lang="en-US" sz="2400" dirty="0"/>
              </a:p>
              <a:p>
                <a:pPr lvl="1">
                  <a:buClr>
                    <a:schemeClr val="tx1"/>
                  </a:buClr>
                </a:pPr>
                <a14:m>
                  <m:oMath xmlns:m="http://schemas.openxmlformats.org/officeDocument/2006/math">
                    <m:r>
                      <a:rPr lang="en-US" sz="2400" i="1">
                        <a:latin typeface="Cambria Math" panose="02040503050406030204" pitchFamily="18" charset="0"/>
                        <a:ea typeface="Cambria Math" panose="02040503050406030204" pitchFamily="18" charset="0"/>
                      </a:rPr>
                      <m:t>𝛽</m:t>
                    </m:r>
                    <m:r>
                      <a:rPr lang="en-US" sz="2400" i="1" baseline="-25000">
                        <a:latin typeface="Cambria Math" panose="02040503050406030204" pitchFamily="18" charset="0"/>
                        <a:ea typeface="Cambria Math" panose="02040503050406030204" pitchFamily="18" charset="0"/>
                      </a:rPr>
                      <m:t>0</m:t>
                    </m:r>
                  </m:oMath>
                </a14:m>
                <a:r>
                  <a:rPr lang="en-US" sz="2400" dirty="0"/>
                  <a:t> is the intercept parameter and </a:t>
                </a:r>
                <a14:m>
                  <m:oMath xmlns:m="http://schemas.openxmlformats.org/officeDocument/2006/math">
                    <m:r>
                      <a:rPr lang="en-US" sz="2400" i="1">
                        <a:latin typeface="Cambria Math" panose="02040503050406030204" pitchFamily="18" charset="0"/>
                        <a:ea typeface="Cambria Math" panose="02040503050406030204" pitchFamily="18" charset="0"/>
                      </a:rPr>
                      <m:t>𝛽</m:t>
                    </m:r>
                    <m:r>
                      <a:rPr lang="en-US" sz="2400" i="1" baseline="-25000">
                        <a:latin typeface="Cambria Math" panose="02040503050406030204" pitchFamily="18" charset="0"/>
                        <a:ea typeface="Cambria Math" panose="02040503050406030204" pitchFamily="18" charset="0"/>
                      </a:rPr>
                      <m:t>1</m:t>
                    </m:r>
                  </m:oMath>
                </a14:m>
                <a:r>
                  <a:rPr lang="en-US" sz="2400" dirty="0"/>
                  <a:t> is the slope parameter</a:t>
                </a:r>
              </a:p>
              <a:p>
                <a:pPr marL="101598" indent="0">
                  <a:buClr>
                    <a:schemeClr val="tx1"/>
                  </a:buClr>
                  <a:buNone/>
                </a:pPr>
                <a:endParaRPr lang="en-US" sz="2400" dirty="0"/>
              </a:p>
              <a:p>
                <a:pPr>
                  <a:buClr>
                    <a:schemeClr val="tx1"/>
                  </a:buClr>
                </a:pPr>
                <a:r>
                  <a:rPr lang="en-US" sz="2400" dirty="0">
                    <a:solidFill>
                      <a:schemeClr val="accent2"/>
                    </a:solidFill>
                  </a:rPr>
                  <a:t>Optimization</a:t>
                </a:r>
                <a:r>
                  <a:rPr lang="en-US" sz="2400" dirty="0"/>
                  <a:t>: Pick the line that minimizes the </a:t>
                </a:r>
                <a:r>
                  <a:rPr lang="en-US" sz="2400" dirty="0">
                    <a:solidFill>
                      <a:schemeClr val="accent2"/>
                    </a:solidFill>
                  </a:rPr>
                  <a:t>sum of squared residuals (</a:t>
                </a:r>
                <a14:m>
                  <m:oMath xmlns:m="http://schemas.openxmlformats.org/officeDocument/2006/math">
                    <m:r>
                      <a:rPr lang="en-US" sz="2400" i="1">
                        <a:solidFill>
                          <a:schemeClr val="accent2"/>
                        </a:solidFill>
                        <a:latin typeface="Cambria Math" panose="02040503050406030204" pitchFamily="18" charset="0"/>
                      </a:rPr>
                      <m:t>𝑅𝑆𝑆</m:t>
                    </m:r>
                  </m:oMath>
                </a14:m>
                <a:r>
                  <a:rPr lang="en-US" sz="2400" dirty="0">
                    <a:solidFill>
                      <a:schemeClr val="accent2"/>
                    </a:solidFill>
                  </a:rPr>
                  <a:t>)</a:t>
                </a:r>
              </a:p>
              <a:p>
                <a:pPr lvl="1">
                  <a:buClr>
                    <a:schemeClr val="tx1"/>
                  </a:buClr>
                </a:pPr>
                <a:r>
                  <a:rPr lang="en-US" sz="2400" dirty="0"/>
                  <a:t>Residual: Difference between a prediction and an observed response. </a:t>
                </a:r>
                <a14:m>
                  <m:oMath xmlns:m="http://schemas.openxmlformats.org/officeDocument/2006/math">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𝑒</m:t>
                        </m:r>
                      </m:e>
                      <m:sub>
                        <m:r>
                          <a:rPr lang="en-US" sz="2400" b="0" i="1" smtClean="0">
                            <a:solidFill>
                              <a:schemeClr val="accent2"/>
                            </a:solidFill>
                            <a:latin typeface="Cambria Math" panose="02040503050406030204" pitchFamily="18" charset="0"/>
                          </a:rPr>
                          <m:t>𝑖</m:t>
                        </m:r>
                      </m:sub>
                    </m:sSub>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𝑦</m:t>
                        </m:r>
                      </m:e>
                      <m:sub>
                        <m:r>
                          <a:rPr lang="en-US" sz="2400" b="0" i="1" smtClean="0">
                            <a:solidFill>
                              <a:schemeClr val="accent2"/>
                            </a:solidFill>
                            <a:latin typeface="Cambria Math" panose="02040503050406030204" pitchFamily="18" charset="0"/>
                          </a:rPr>
                          <m:t>𝑖</m:t>
                        </m:r>
                      </m:sub>
                    </m:sSub>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acc>
                          <m:accPr>
                            <m:chr m:val="̂"/>
                            <m:ctrlPr>
                              <a:rPr lang="en-US" sz="2400" b="0" i="1" smtClean="0">
                                <a:solidFill>
                                  <a:schemeClr val="accent2"/>
                                </a:solidFill>
                                <a:latin typeface="Cambria Math" panose="02040503050406030204" pitchFamily="18" charset="0"/>
                              </a:rPr>
                            </m:ctrlPr>
                          </m:accPr>
                          <m:e>
                            <m:r>
                              <a:rPr lang="en-US" sz="2400" b="0" i="1" smtClean="0">
                                <a:solidFill>
                                  <a:schemeClr val="accent2"/>
                                </a:solidFill>
                                <a:latin typeface="Cambria Math" panose="02040503050406030204" pitchFamily="18" charset="0"/>
                              </a:rPr>
                              <m:t>𝑦</m:t>
                            </m:r>
                          </m:e>
                        </m:acc>
                      </m:e>
                      <m:sub>
                        <m:r>
                          <a:rPr lang="en-US" sz="2400" b="0" i="1" smtClean="0">
                            <a:solidFill>
                              <a:schemeClr val="accent2"/>
                            </a:solidFill>
                            <a:latin typeface="Cambria Math" panose="02040503050406030204" pitchFamily="18" charset="0"/>
                          </a:rPr>
                          <m:t>𝑖</m:t>
                        </m:r>
                      </m:sub>
                    </m:sSub>
                  </m:oMath>
                </a14:m>
                <a:r>
                  <a:rPr lang="en-US" sz="2400" dirty="0">
                    <a:solidFill>
                      <a:schemeClr val="accent2"/>
                    </a:solidFill>
                  </a:rPr>
                  <a:t> </a:t>
                </a:r>
                <a:endParaRPr lang="en-US" sz="2400" dirty="0"/>
              </a:p>
              <a:p>
                <a:pPr lvl="1">
                  <a:buClr>
                    <a:schemeClr val="tx1"/>
                  </a:buClr>
                </a:pPr>
                <a:r>
                  <a:rPr lang="en-US" sz="2400" dirty="0">
                    <a:solidFill>
                      <a:schemeClr val="accent2"/>
                    </a:solidFill>
                  </a:rPr>
                  <a:t>Objective function</a:t>
                </a:r>
                <a:r>
                  <a:rPr lang="en-US" sz="2400" dirty="0"/>
                  <a:t>: This is also more commonly known as a loss function. </a:t>
                </a:r>
              </a:p>
              <a:p>
                <a:pPr lvl="1">
                  <a:buClr>
                    <a:schemeClr val="tx1"/>
                  </a:buClr>
                </a:pPr>
                <a:r>
                  <a:rPr lang="en-US" sz="2400" dirty="0"/>
                  <a:t>Minimize RSS to find the </a:t>
                </a:r>
                <a:r>
                  <a:rPr lang="en-US" sz="2400" i="1" dirty="0">
                    <a:solidFill>
                      <a:schemeClr val="accent2"/>
                    </a:solidFill>
                  </a:rPr>
                  <a:t>line of best fit</a:t>
                </a:r>
                <a:r>
                  <a:rPr lang="en-US" sz="2400" dirty="0"/>
                  <a:t>.</a:t>
                </a:r>
              </a:p>
              <a:p>
                <a:pPr marL="711183" lvl="1" indent="0">
                  <a:buClr>
                    <a:schemeClr val="tx1"/>
                  </a:buClr>
                  <a:buNone/>
                </a:pPr>
                <a:endParaRPr lang="en-US" sz="2400" dirty="0"/>
              </a:p>
              <a:p>
                <a:pPr>
                  <a:buClr>
                    <a:schemeClr val="tx1"/>
                  </a:buClr>
                </a:pPr>
                <a:r>
                  <a:rPr lang="en-US" sz="2400" dirty="0"/>
                  <a:t>Parameters can be mathematically derived in a </a:t>
                </a:r>
                <a:r>
                  <a:rPr lang="en-US" sz="2400" i="1" dirty="0">
                    <a:solidFill>
                      <a:schemeClr val="accent2"/>
                    </a:solidFill>
                  </a:rPr>
                  <a:t>closed form solution </a:t>
                </a:r>
                <a:r>
                  <a:rPr lang="en-US" sz="2400" dirty="0"/>
                  <a:t>of the optimization problem as: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1</m:t>
                        </m:r>
                      </m:e>
                    </m:acc>
                    <m:r>
                      <a:rPr lang="en-US" sz="2400" b="0" i="1" smtClean="0">
                        <a:solidFill>
                          <a:schemeClr val="accent2"/>
                        </a:solidFill>
                        <a:latin typeface="Cambria Math" panose="02040503050406030204" pitchFamily="18" charset="0"/>
                        <a:ea typeface="Cambria Math" panose="02040503050406030204" pitchFamily="18" charset="0"/>
                      </a:rPr>
                      <m:t>=</m:t>
                    </m:r>
                    <m:f>
                      <m:fPr>
                        <m:ctrlPr>
                          <a:rPr lang="en-US" sz="2400" b="0" i="1" smtClean="0">
                            <a:solidFill>
                              <a:schemeClr val="accent2"/>
                            </a:solidFill>
                            <a:latin typeface="Cambria Math" panose="02040503050406030204" pitchFamily="18" charset="0"/>
                            <a:ea typeface="Cambria Math" panose="02040503050406030204" pitchFamily="18" charset="0"/>
                          </a:rPr>
                        </m:ctrlPr>
                      </m:fPr>
                      <m:num>
                        <m:nary>
                          <m:naryPr>
                            <m:chr m:val="∑"/>
                            <m:ctrlPr>
                              <a:rPr lang="en-US" sz="2400" b="0" i="1" smtClean="0">
                                <a:solidFill>
                                  <a:schemeClr val="accent2"/>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accent2"/>
                                </a:solidFill>
                                <a:latin typeface="Cambria Math" panose="02040503050406030204" pitchFamily="18" charset="0"/>
                                <a:ea typeface="Cambria Math" panose="02040503050406030204" pitchFamily="18" charset="0"/>
                              </a:rPr>
                              <m:t>𝑖</m:t>
                            </m:r>
                            <m:r>
                              <a:rPr lang="en-US" sz="2400" b="0" i="1" smtClean="0">
                                <a:solidFill>
                                  <a:schemeClr val="accent2"/>
                                </a:solidFill>
                                <a:latin typeface="Cambria Math" panose="02040503050406030204" pitchFamily="18" charset="0"/>
                                <a:ea typeface="Cambria Math" panose="02040503050406030204" pitchFamily="18" charset="0"/>
                              </a:rPr>
                              <m:t>=1</m:t>
                            </m:r>
                          </m:sub>
                          <m:sup>
                            <m:r>
                              <a:rPr lang="en-US" sz="2400" b="0" i="1" smtClean="0">
                                <a:solidFill>
                                  <a:schemeClr val="accent2"/>
                                </a:solidFill>
                                <a:latin typeface="Cambria Math" panose="02040503050406030204" pitchFamily="18" charset="0"/>
                                <a:ea typeface="Cambria Math" panose="02040503050406030204" pitchFamily="18" charset="0"/>
                              </a:rPr>
                              <m:t>𝑛</m:t>
                            </m:r>
                          </m:sup>
                          <m:e>
                            <m:r>
                              <a:rPr lang="en-US" sz="2400" b="0" i="1" smtClean="0">
                                <a:solidFill>
                                  <a:schemeClr val="accent2"/>
                                </a:solidFill>
                                <a:latin typeface="Cambria Math" panose="02040503050406030204" pitchFamily="18" charset="0"/>
                                <a:ea typeface="Cambria Math" panose="02040503050406030204" pitchFamily="18" charset="0"/>
                              </a:rPr>
                              <m:t>(</m:t>
                            </m:r>
                            <m:sSub>
                              <m:sSubPr>
                                <m:ctrlPr>
                                  <a:rPr lang="en-US" sz="2400" b="0" i="1" smtClean="0">
                                    <a:solidFill>
                                      <a:schemeClr val="accent2"/>
                                    </a:solidFill>
                                    <a:latin typeface="Cambria Math" panose="02040503050406030204" pitchFamily="18" charset="0"/>
                                    <a:ea typeface="Cambria Math" panose="02040503050406030204" pitchFamily="18" charset="0"/>
                                  </a:rPr>
                                </m:ctrlPr>
                              </m:sSubPr>
                              <m:e>
                                <m:r>
                                  <a:rPr lang="en-US" sz="2400" b="0" i="1" smtClean="0">
                                    <a:solidFill>
                                      <a:schemeClr val="accent2"/>
                                    </a:solidFill>
                                    <a:latin typeface="Cambria Math" panose="02040503050406030204" pitchFamily="18" charset="0"/>
                                    <a:ea typeface="Cambria Math" panose="02040503050406030204" pitchFamily="18" charset="0"/>
                                  </a:rPr>
                                  <m:t>𝑥</m:t>
                                </m:r>
                              </m:e>
                              <m:sub>
                                <m:r>
                                  <a:rPr lang="en-US" sz="2400" b="0" i="1" smtClean="0">
                                    <a:solidFill>
                                      <a:schemeClr val="accent2"/>
                                    </a:solidFill>
                                    <a:latin typeface="Cambria Math" panose="02040503050406030204" pitchFamily="18" charset="0"/>
                                    <a:ea typeface="Cambria Math" panose="02040503050406030204" pitchFamily="18" charset="0"/>
                                  </a:rPr>
                                  <m:t>𝑖</m:t>
                                </m:r>
                              </m:sub>
                            </m:sSub>
                            <m:r>
                              <a:rPr lang="en-US" sz="2400" b="0" i="1" smtClean="0">
                                <a:solidFill>
                                  <a:schemeClr val="accent2"/>
                                </a:solidFill>
                                <a:latin typeface="Cambria Math" panose="02040503050406030204" pitchFamily="18" charset="0"/>
                                <a:ea typeface="Cambria Math" panose="02040503050406030204" pitchFamily="18" charset="0"/>
                              </a:rPr>
                              <m:t>−</m:t>
                            </m:r>
                            <m:acc>
                              <m:accPr>
                                <m:chr m:val="̅"/>
                                <m:ctrlPr>
                                  <a:rPr lang="en-US" sz="2400" b="0" i="1" smtClean="0">
                                    <a:solidFill>
                                      <a:schemeClr val="accent2"/>
                                    </a:solidFill>
                                    <a:latin typeface="Cambria Math" panose="02040503050406030204" pitchFamily="18" charset="0"/>
                                    <a:ea typeface="Cambria Math" panose="02040503050406030204" pitchFamily="18" charset="0"/>
                                  </a:rPr>
                                </m:ctrlPr>
                              </m:accPr>
                              <m:e>
                                <m:r>
                                  <a:rPr lang="en-US" sz="2400" b="0" i="1" smtClean="0">
                                    <a:solidFill>
                                      <a:schemeClr val="accent2"/>
                                    </a:solidFill>
                                    <a:latin typeface="Cambria Math" panose="02040503050406030204" pitchFamily="18" charset="0"/>
                                    <a:ea typeface="Cambria Math" panose="02040503050406030204" pitchFamily="18" charset="0"/>
                                  </a:rPr>
                                  <m:t>𝑥</m:t>
                                </m:r>
                              </m:e>
                            </m:acc>
                          </m:e>
                        </m:nary>
                        <m:r>
                          <a:rPr lang="en-US" sz="2400" b="0" i="1" smtClean="0">
                            <a:solidFill>
                              <a:schemeClr val="accent2"/>
                            </a:solidFill>
                            <a:latin typeface="Cambria Math" panose="02040503050406030204" pitchFamily="18" charset="0"/>
                            <a:ea typeface="Cambria Math" panose="02040503050406030204" pitchFamily="18" charset="0"/>
                          </a:rPr>
                          <m:t>)(</m:t>
                        </m:r>
                        <m:sSub>
                          <m:sSubPr>
                            <m:ctrlPr>
                              <a:rPr lang="en-US" sz="2400" b="0" i="1" smtClean="0">
                                <a:solidFill>
                                  <a:schemeClr val="accent2"/>
                                </a:solidFill>
                                <a:latin typeface="Cambria Math" panose="02040503050406030204" pitchFamily="18" charset="0"/>
                                <a:ea typeface="Cambria Math" panose="02040503050406030204" pitchFamily="18" charset="0"/>
                              </a:rPr>
                            </m:ctrlPr>
                          </m:sSubPr>
                          <m:e>
                            <m:r>
                              <a:rPr lang="en-US" sz="2400" b="0" i="1" smtClean="0">
                                <a:solidFill>
                                  <a:schemeClr val="accent2"/>
                                </a:solidFill>
                                <a:latin typeface="Cambria Math" panose="02040503050406030204" pitchFamily="18" charset="0"/>
                                <a:ea typeface="Cambria Math" panose="02040503050406030204" pitchFamily="18" charset="0"/>
                              </a:rPr>
                              <m:t>𝑦</m:t>
                            </m:r>
                          </m:e>
                          <m:sub>
                            <m:r>
                              <a:rPr lang="en-US" sz="2400" b="0" i="1" smtClean="0">
                                <a:solidFill>
                                  <a:schemeClr val="accent2"/>
                                </a:solidFill>
                                <a:latin typeface="Cambria Math" panose="02040503050406030204" pitchFamily="18" charset="0"/>
                                <a:ea typeface="Cambria Math" panose="02040503050406030204" pitchFamily="18" charset="0"/>
                              </a:rPr>
                              <m:t>𝑖</m:t>
                            </m:r>
                          </m:sub>
                        </m:sSub>
                        <m:r>
                          <a:rPr lang="en-US" sz="2400" i="1">
                            <a:solidFill>
                              <a:schemeClr val="accent2"/>
                            </a:solidFill>
                            <a:latin typeface="Cambria Math" panose="02040503050406030204" pitchFamily="18" charset="0"/>
                            <a:ea typeface="Cambria Math" panose="02040503050406030204" pitchFamily="18" charset="0"/>
                          </a:rPr>
                          <m:t>−</m:t>
                        </m:r>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𝑦</m:t>
                            </m:r>
                          </m:e>
                        </m:acc>
                        <m:r>
                          <a:rPr lang="en-US" sz="2400" b="0" i="1" smtClean="0">
                            <a:solidFill>
                              <a:schemeClr val="accent2"/>
                            </a:solidFill>
                            <a:latin typeface="Cambria Math" panose="02040503050406030204" pitchFamily="18" charset="0"/>
                            <a:ea typeface="Cambria Math" panose="02040503050406030204" pitchFamily="18" charset="0"/>
                          </a:rPr>
                          <m:t>)</m:t>
                        </m:r>
                      </m:num>
                      <m:den>
                        <m:nary>
                          <m:naryPr>
                            <m:chr m:val="∑"/>
                            <m:ctrlPr>
                              <a:rPr lang="en-US" sz="2400" i="1">
                                <a:solidFill>
                                  <a:schemeClr val="accent2"/>
                                </a:solidFill>
                                <a:latin typeface="Cambria Math" panose="02040503050406030204" pitchFamily="18" charset="0"/>
                                <a:ea typeface="Cambria Math" panose="02040503050406030204" pitchFamily="18" charset="0"/>
                              </a:rPr>
                            </m:ctrlPr>
                          </m:naryPr>
                          <m:sub>
                            <m:r>
                              <m:rPr>
                                <m:brk m:alnAt="23"/>
                              </m:rPr>
                              <a:rPr lang="en-US" sz="2400" i="1">
                                <a:solidFill>
                                  <a:schemeClr val="accent2"/>
                                </a:solidFill>
                                <a:latin typeface="Cambria Math" panose="02040503050406030204" pitchFamily="18" charset="0"/>
                                <a:ea typeface="Cambria Math" panose="02040503050406030204" pitchFamily="18" charset="0"/>
                              </a:rPr>
                              <m:t>𝑖</m:t>
                            </m:r>
                            <m:r>
                              <a:rPr lang="en-US" sz="2400" i="1">
                                <a:solidFill>
                                  <a:schemeClr val="accent2"/>
                                </a:solidFill>
                                <a:latin typeface="Cambria Math" panose="02040503050406030204" pitchFamily="18" charset="0"/>
                                <a:ea typeface="Cambria Math" panose="02040503050406030204" pitchFamily="18" charset="0"/>
                              </a:rPr>
                              <m:t>=1</m:t>
                            </m:r>
                          </m:sub>
                          <m:sup>
                            <m:r>
                              <a:rPr lang="en-US" sz="2400" i="1">
                                <a:solidFill>
                                  <a:schemeClr val="accent2"/>
                                </a:solidFill>
                                <a:latin typeface="Cambria Math" panose="02040503050406030204" pitchFamily="18" charset="0"/>
                                <a:ea typeface="Cambria Math" panose="02040503050406030204" pitchFamily="18" charset="0"/>
                              </a:rPr>
                              <m:t>𝑛</m:t>
                            </m:r>
                          </m:sup>
                          <m:e>
                            <m:r>
                              <a:rPr lang="en-US" sz="2400" i="1">
                                <a:solidFill>
                                  <a:schemeClr val="accent2"/>
                                </a:solidFill>
                                <a:latin typeface="Cambria Math" panose="02040503050406030204" pitchFamily="18" charset="0"/>
                                <a:ea typeface="Cambria Math" panose="02040503050406030204" pitchFamily="18" charset="0"/>
                              </a:rPr>
                              <m:t>(</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𝑥</m:t>
                                </m:r>
                              </m:e>
                              <m:sub>
                                <m:r>
                                  <a:rPr lang="en-US" sz="2400" i="1">
                                    <a:solidFill>
                                      <a:schemeClr val="accent2"/>
                                    </a:solidFill>
                                    <a:latin typeface="Cambria Math" panose="02040503050406030204" pitchFamily="18" charset="0"/>
                                    <a:ea typeface="Cambria Math" panose="02040503050406030204" pitchFamily="18" charset="0"/>
                                  </a:rPr>
                                  <m:t>𝑖</m:t>
                                </m:r>
                              </m:sub>
                            </m:sSub>
                            <m:r>
                              <a:rPr lang="en-US" sz="2400" i="1">
                                <a:solidFill>
                                  <a:schemeClr val="accent2"/>
                                </a:solidFill>
                                <a:latin typeface="Cambria Math" panose="02040503050406030204" pitchFamily="18" charset="0"/>
                                <a:ea typeface="Cambria Math" panose="02040503050406030204" pitchFamily="18" charset="0"/>
                              </a:rPr>
                              <m:t>−</m:t>
                            </m:r>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𝑥</m:t>
                                </m:r>
                              </m:e>
                            </m:acc>
                          </m:e>
                        </m:nary>
                        <m:r>
                          <a:rPr lang="en-US" sz="2400" b="0" i="1" smtClean="0">
                            <a:solidFill>
                              <a:schemeClr val="accent2"/>
                            </a:solidFill>
                            <a:latin typeface="Cambria Math" panose="02040503050406030204" pitchFamily="18" charset="0"/>
                            <a:ea typeface="Cambria Math" panose="02040503050406030204" pitchFamily="18" charset="0"/>
                          </a:rPr>
                          <m:t>)</m:t>
                        </m:r>
                        <m:r>
                          <a:rPr lang="en-US" sz="2400" b="0" i="1" baseline="30000" smtClean="0">
                            <a:solidFill>
                              <a:schemeClr val="accent2"/>
                            </a:solidFill>
                            <a:latin typeface="Cambria Math" panose="02040503050406030204" pitchFamily="18" charset="0"/>
                            <a:ea typeface="Cambria Math" panose="02040503050406030204" pitchFamily="18" charset="0"/>
                          </a:rPr>
                          <m:t>2</m:t>
                        </m:r>
                      </m:den>
                    </m:f>
                    <m:r>
                      <a:rPr lang="en-US" sz="2400" b="0" i="1" smtClean="0">
                        <a:solidFill>
                          <a:schemeClr val="accent2"/>
                        </a:solidFill>
                        <a:latin typeface="Cambria Math" panose="02040503050406030204" pitchFamily="18" charset="0"/>
                        <a:ea typeface="Cambria Math" panose="02040503050406030204" pitchFamily="18" charset="0"/>
                      </a:rPr>
                      <m:t>=</m:t>
                    </m:r>
                    <m:r>
                      <a:rPr lang="en-US" sz="2400" b="0" i="1" smtClean="0">
                        <a:solidFill>
                          <a:schemeClr val="accent2"/>
                        </a:solidFill>
                        <a:latin typeface="Cambria Math" panose="02040503050406030204" pitchFamily="18" charset="0"/>
                        <a:ea typeface="Cambria Math" panose="02040503050406030204" pitchFamily="18" charset="0"/>
                      </a:rPr>
                      <m:t>𝑟</m:t>
                    </m:r>
                    <m:r>
                      <a:rPr lang="en-US" sz="2400" b="0" i="1" smtClean="0">
                        <a:solidFill>
                          <a:schemeClr val="accent2"/>
                        </a:solidFill>
                        <a:latin typeface="Cambria Math" panose="02040503050406030204" pitchFamily="18" charset="0"/>
                        <a:ea typeface="Cambria Math" panose="02040503050406030204" pitchFamily="18" charset="0"/>
                      </a:rPr>
                      <m:t>×</m:t>
                    </m:r>
                    <m:f>
                      <m:fPr>
                        <m:ctrlPr>
                          <a:rPr lang="en-US" sz="2400" b="0" i="1" smtClean="0">
                            <a:solidFill>
                              <a:schemeClr val="accent2"/>
                            </a:solidFill>
                            <a:latin typeface="Cambria Math" panose="02040503050406030204" pitchFamily="18" charset="0"/>
                            <a:ea typeface="Cambria Math" panose="02040503050406030204" pitchFamily="18" charset="0"/>
                          </a:rPr>
                        </m:ctrlPr>
                      </m:fPr>
                      <m:num>
                        <m:r>
                          <a:rPr lang="en-US" sz="2400" b="0" i="1" smtClean="0">
                            <a:solidFill>
                              <a:schemeClr val="accent2"/>
                            </a:solidFill>
                            <a:latin typeface="Cambria Math" panose="02040503050406030204" pitchFamily="18" charset="0"/>
                            <a:ea typeface="Cambria Math" panose="02040503050406030204" pitchFamily="18" charset="0"/>
                          </a:rPr>
                          <m:t>𝑠</m:t>
                        </m:r>
                        <m:r>
                          <a:rPr lang="en-US" sz="2400" b="0" i="1" baseline="-25000" smtClean="0">
                            <a:solidFill>
                              <a:schemeClr val="accent2"/>
                            </a:solidFill>
                            <a:latin typeface="Cambria Math" panose="02040503050406030204" pitchFamily="18" charset="0"/>
                            <a:ea typeface="Cambria Math" panose="02040503050406030204" pitchFamily="18" charset="0"/>
                          </a:rPr>
                          <m:t>𝑦</m:t>
                        </m:r>
                      </m:num>
                      <m:den>
                        <m:r>
                          <a:rPr lang="en-US" sz="2400" b="0" i="1" smtClean="0">
                            <a:solidFill>
                              <a:schemeClr val="accent2"/>
                            </a:solidFill>
                            <a:latin typeface="Cambria Math" panose="02040503050406030204" pitchFamily="18" charset="0"/>
                            <a:ea typeface="Cambria Math" panose="02040503050406030204" pitchFamily="18" charset="0"/>
                          </a:rPr>
                          <m:t>𝑠</m:t>
                        </m:r>
                        <m:r>
                          <a:rPr lang="en-US" sz="2400" b="0" i="1" baseline="-25000" smtClean="0">
                            <a:solidFill>
                              <a:schemeClr val="accent2"/>
                            </a:solidFill>
                            <a:latin typeface="Cambria Math" panose="02040503050406030204" pitchFamily="18" charset="0"/>
                            <a:ea typeface="Cambria Math" panose="02040503050406030204" pitchFamily="18" charset="0"/>
                          </a:rPr>
                          <m:t>𝑥</m:t>
                        </m:r>
                      </m:den>
                    </m:f>
                  </m:oMath>
                </a14:m>
                <a:r>
                  <a:rPr lang="en-US" sz="2400" dirty="0"/>
                  <a:t>    and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0</m:t>
                        </m:r>
                      </m:e>
                    </m:acc>
                  </m:oMath>
                </a14:m>
                <a:r>
                  <a:rPr lang="en-US" sz="2400" dirty="0">
                    <a:solidFill>
                      <a:schemeClr val="accent2"/>
                    </a:solidFill>
                  </a:rPr>
                  <a:t> = </a:t>
                </a:r>
                <a14:m>
                  <m:oMath xmlns:m="http://schemas.openxmlformats.org/officeDocument/2006/math">
                    <m:acc>
                      <m:accPr>
                        <m:chr m:val="̅"/>
                        <m:ctrlPr>
                          <a:rPr lang="en-US" sz="2400" b="0" i="1" smtClean="0">
                            <a:solidFill>
                              <a:schemeClr val="accent2"/>
                            </a:solidFill>
                            <a:latin typeface="Cambria Math" panose="02040503050406030204" pitchFamily="18" charset="0"/>
                          </a:rPr>
                        </m:ctrlPr>
                      </m:accPr>
                      <m:e>
                        <m:r>
                          <a:rPr lang="en-US" sz="2400" b="0" i="1" smtClean="0">
                            <a:solidFill>
                              <a:schemeClr val="accent2"/>
                            </a:solidFill>
                            <a:latin typeface="Cambria Math" panose="02040503050406030204" pitchFamily="18" charset="0"/>
                          </a:rPr>
                          <m:t>𝑦</m:t>
                        </m:r>
                      </m:e>
                    </m:acc>
                  </m:oMath>
                </a14:m>
                <a:r>
                  <a:rPr lang="en-US" sz="2400" dirty="0">
                    <a:solidFill>
                      <a:schemeClr val="accent2"/>
                    </a:solidFill>
                  </a:rPr>
                  <a:t> -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1</m:t>
                        </m:r>
                      </m:e>
                    </m:acc>
                    <m:acc>
                      <m:accPr>
                        <m:chr m:val="̅"/>
                        <m:ctrlPr>
                          <a:rPr lang="en-US" sz="2400" b="0" i="1" smtClean="0">
                            <a:solidFill>
                              <a:schemeClr val="accent2"/>
                            </a:solidFill>
                            <a:latin typeface="Cambria Math" panose="02040503050406030204" pitchFamily="18" charset="0"/>
                            <a:ea typeface="Cambria Math" panose="02040503050406030204" pitchFamily="18" charset="0"/>
                          </a:rPr>
                        </m:ctrlPr>
                      </m:accPr>
                      <m:e>
                        <m:r>
                          <a:rPr lang="en-US" sz="2400" b="0" i="1" smtClean="0">
                            <a:solidFill>
                              <a:schemeClr val="accent2"/>
                            </a:solidFill>
                            <a:latin typeface="Cambria Math" panose="02040503050406030204" pitchFamily="18" charset="0"/>
                            <a:ea typeface="Cambria Math" panose="02040503050406030204" pitchFamily="18" charset="0"/>
                          </a:rPr>
                          <m:t>𝑥</m:t>
                        </m:r>
                      </m:e>
                    </m:acc>
                  </m:oMath>
                </a14:m>
                <a:r>
                  <a:rPr lang="en-US" sz="2400" dirty="0">
                    <a:solidFill>
                      <a:schemeClr val="accent2"/>
                    </a:solidFill>
                  </a:rPr>
                  <a:t> </a:t>
                </a:r>
                <a:endParaRPr lang="en-US" sz="2400" dirty="0"/>
              </a:p>
              <a:p>
                <a:pPr lvl="1">
                  <a:buClr>
                    <a:schemeClr val="tx1"/>
                  </a:buClr>
                </a:pPr>
                <a:r>
                  <a:rPr lang="en-US" sz="2400" dirty="0"/>
                  <a:t>s</a:t>
                </a:r>
                <a:r>
                  <a:rPr lang="en-US" sz="2400" baseline="-25000" dirty="0"/>
                  <a:t>x</a:t>
                </a:r>
                <a:r>
                  <a:rPr lang="en-US" sz="2400" dirty="0"/>
                  <a:t> and </a:t>
                </a:r>
                <a:r>
                  <a:rPr lang="en-US" sz="2400" dirty="0" err="1"/>
                  <a:t>s</a:t>
                </a:r>
                <a:r>
                  <a:rPr lang="en-US" sz="2400" baseline="-25000" dirty="0" err="1"/>
                  <a:t>y</a:t>
                </a:r>
                <a:r>
                  <a:rPr lang="en-US" sz="2400" dirty="0"/>
                  <a:t> are standard deviations of variables x and y from our samples</a:t>
                </a:r>
              </a:p>
              <a:p>
                <a:pPr lvl="1"/>
                <a14:m>
                  <m:oMath xmlns:m="http://schemas.openxmlformats.org/officeDocument/2006/math">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𝑥</m:t>
                        </m:r>
                      </m:e>
                    </m:acc>
                  </m:oMath>
                </a14:m>
                <a:r>
                  <a:rPr lang="en-US" sz="2400" dirty="0"/>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oMath>
                </a14:m>
                <a:r>
                  <a:rPr lang="en-US" sz="2400" dirty="0"/>
                  <a:t> are the respective means of </a:t>
                </a:r>
                <a14:m>
                  <m:oMath xmlns:m="http://schemas.openxmlformats.org/officeDocument/2006/math">
                    <m:r>
                      <a:rPr lang="en-US" sz="2400" b="0" i="1" smtClean="0">
                        <a:latin typeface="Cambria Math" panose="02040503050406030204" pitchFamily="18" charset="0"/>
                      </a:rPr>
                      <m:t>𝑥</m:t>
                    </m:r>
                  </m:oMath>
                </a14:m>
                <a:r>
                  <a:rPr lang="en-US" sz="2400" dirty="0"/>
                  <a:t> and </a:t>
                </a:r>
                <a14:m>
                  <m:oMath xmlns:m="http://schemas.openxmlformats.org/officeDocument/2006/math">
                    <m:r>
                      <a:rPr lang="en-US" sz="2400" b="0" i="1" smtClean="0">
                        <a:latin typeface="Cambria Math" panose="02040503050406030204" pitchFamily="18" charset="0"/>
                      </a:rPr>
                      <m:t>𝑦</m:t>
                    </m:r>
                  </m:oMath>
                </a14:m>
                <a:br>
                  <a:rPr lang="en-US" sz="2400" dirty="0"/>
                </a:br>
                <a:endParaRPr lang="en-US" sz="2400" dirty="0"/>
              </a:p>
              <a:p>
                <a:r>
                  <a:rPr lang="en-US" sz="2400" dirty="0"/>
                  <a:t>Together these parameters give us the equation of the </a:t>
                </a:r>
                <a:r>
                  <a:rPr lang="en-US" sz="2400" dirty="0">
                    <a:solidFill>
                      <a:schemeClr val="accent2"/>
                    </a:solidFill>
                  </a:rPr>
                  <a:t>least squares line</a:t>
                </a:r>
                <a:r>
                  <a:rPr lang="en-US" sz="2400" dirty="0"/>
                  <a:t> for simple linear regression</a:t>
                </a:r>
              </a:p>
            </p:txBody>
          </p:sp>
        </mc:Choice>
        <mc:Fallback xmlns="">
          <p:sp>
            <p:nvSpPr>
              <p:cNvPr id="3" name="Text Placeholder 2">
                <a:extLst>
                  <a:ext uri="{FF2B5EF4-FFF2-40B4-BE49-F238E27FC236}">
                    <a16:creationId xmlns:a16="http://schemas.microsoft.com/office/drawing/2014/main" id="{D2268B80-A6E7-DF2A-501F-5B6B6EB9088F}"/>
                  </a:ext>
                </a:extLst>
              </p:cNvPr>
              <p:cNvSpPr>
                <a:spLocks noGrp="1" noRot="1" noChangeAspect="1" noMove="1" noResize="1" noEditPoints="1" noAdjustHandles="1" noChangeArrowheads="1" noChangeShapeType="1" noTextEdit="1"/>
              </p:cNvSpPr>
              <p:nvPr>
                <p:ph type="body" idx="1"/>
              </p:nvPr>
            </p:nvSpPr>
            <p:spPr>
              <a:xfrm>
                <a:off x="609600" y="1295400"/>
                <a:ext cx="10952480" cy="4922520"/>
              </a:xfrm>
              <a:blipFill>
                <a:blip r:embed="rId3"/>
                <a:stretch>
                  <a:fillRect t="-1546" r="-463" b="-515"/>
                </a:stretch>
              </a:blipFill>
            </p:spPr>
            <p:txBody>
              <a:bodyPr/>
              <a:lstStyle/>
              <a:p>
                <a:r>
                  <a:rPr lang="en-US">
                    <a:noFill/>
                  </a:rPr>
                  <a:t> </a:t>
                </a:r>
              </a:p>
            </p:txBody>
          </p:sp>
        </mc:Fallback>
      </mc:AlternateContent>
    </p:spTree>
    <p:extLst>
      <p:ext uri="{BB962C8B-B14F-4D97-AF65-F5344CB8AC3E}">
        <p14:creationId xmlns:p14="http://schemas.microsoft.com/office/powerpoint/2010/main" val="4337263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658160" y="310628"/>
            <a:ext cx="11118240" cy="838647"/>
          </a:xfrm>
          <a:prstGeom prst="rect">
            <a:avLst/>
          </a:prstGeom>
        </p:spPr>
        <p:txBody>
          <a:bodyPr spcFirstLastPara="1" vert="horz" wrap="square" lIns="121900" tIns="121900" rIns="121900" bIns="121900" rtlCol="0" anchor="t" anchorCtr="0">
            <a:normAutofit fontScale="90000"/>
          </a:bodyPr>
          <a:lstStyle/>
          <a:p>
            <a:r>
              <a:rPr lang="en" dirty="0"/>
              <a:t>Goodness of fit</a:t>
            </a:r>
            <a:endParaRPr dirty="0"/>
          </a:p>
        </p:txBody>
      </p:sp>
      <p:pic>
        <p:nvPicPr>
          <p:cNvPr id="147" name="Google Shape;147;p23"/>
          <p:cNvPicPr preferRelativeResize="0"/>
          <p:nvPr/>
        </p:nvPicPr>
        <p:blipFill>
          <a:blip r:embed="rId3">
            <a:alphaModFix/>
          </a:blip>
          <a:stretch>
            <a:fillRect/>
          </a:stretch>
        </p:blipFill>
        <p:spPr>
          <a:xfrm>
            <a:off x="5032259" y="1261640"/>
            <a:ext cx="5495943" cy="5081285"/>
          </a:xfrm>
          <a:prstGeom prst="rect">
            <a:avLst/>
          </a:prstGeom>
          <a:noFill/>
          <a:ln>
            <a:noFill/>
          </a:ln>
        </p:spPr>
      </p:pic>
      <p:sp>
        <p:nvSpPr>
          <p:cNvPr id="148" name="Google Shape;148;p23"/>
          <p:cNvSpPr txBox="1"/>
          <p:nvPr/>
        </p:nvSpPr>
        <p:spPr>
          <a:xfrm>
            <a:off x="7143433" y="3959267"/>
            <a:ext cx="2932800" cy="615513"/>
          </a:xfrm>
          <a:prstGeom prst="rect">
            <a:avLst/>
          </a:prstGeom>
          <a:noFill/>
          <a:ln>
            <a:noFill/>
          </a:ln>
        </p:spPr>
        <p:txBody>
          <a:bodyPr spcFirstLastPara="1" wrap="square" lIns="121900" tIns="121900" rIns="121900" bIns="121900" anchor="t" anchorCtr="0">
            <a:spAutoFit/>
          </a:bodyPr>
          <a:lstStyle/>
          <a:p>
            <a:endParaRPr sz="2400"/>
          </a:p>
        </p:txBody>
      </p:sp>
      <p:sp>
        <p:nvSpPr>
          <p:cNvPr id="151" name="Google Shape;151;p23"/>
          <p:cNvSpPr txBox="1"/>
          <p:nvPr/>
        </p:nvSpPr>
        <p:spPr>
          <a:xfrm>
            <a:off x="8609833" y="3405269"/>
            <a:ext cx="2837995" cy="1723508"/>
          </a:xfrm>
          <a:prstGeom prst="rect">
            <a:avLst/>
          </a:prstGeom>
          <a:noFill/>
          <a:ln>
            <a:noFill/>
          </a:ln>
        </p:spPr>
        <p:txBody>
          <a:bodyPr spcFirstLastPara="1" wrap="square" lIns="121900" tIns="121900" rIns="121900" bIns="121900" anchor="t" anchorCtr="0">
            <a:spAutoFit/>
          </a:bodyPr>
          <a:lstStyle/>
          <a:p>
            <a:pPr algn="ctr"/>
            <a:r>
              <a:rPr lang="en" sz="2400" b="1" dirty="0">
                <a:solidFill>
                  <a:schemeClr val="accent2"/>
                </a:solidFill>
              </a:rPr>
              <a:t>How good is the guess from the best fitted line?</a:t>
            </a:r>
            <a:endParaRPr sz="2400" b="1" dirty="0">
              <a:solidFill>
                <a:schemeClr val="accent2"/>
              </a:solidFill>
            </a:endParaRPr>
          </a:p>
          <a:p>
            <a:pPr algn="ctr"/>
            <a:r>
              <a:rPr lang="en" sz="2400" b="1" dirty="0">
                <a:solidFill>
                  <a:schemeClr val="accent2"/>
                </a:solidFill>
              </a:rPr>
              <a:t>Calculate R</a:t>
            </a:r>
            <a:r>
              <a:rPr lang="en" sz="2400" b="1" baseline="30000" dirty="0">
                <a:solidFill>
                  <a:schemeClr val="accent2"/>
                </a:solidFill>
              </a:rPr>
              <a:t>2</a:t>
            </a:r>
            <a:endParaRPr sz="2400" b="1" baseline="30000" dirty="0">
              <a:solidFill>
                <a:schemeClr val="accent2"/>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328B49C-3284-E6D1-5106-5860F74A6515}"/>
                  </a:ext>
                </a:extLst>
              </p:cNvPr>
              <p:cNvSpPr txBox="1"/>
              <p:nvPr/>
            </p:nvSpPr>
            <p:spPr>
              <a:xfrm>
                <a:off x="658159" y="1261640"/>
                <a:ext cx="4390409" cy="4832092"/>
              </a:xfrm>
              <a:prstGeom prst="rect">
                <a:avLst/>
              </a:prstGeom>
              <a:noFill/>
            </p:spPr>
            <p:txBody>
              <a:bodyPr wrap="square" rtlCol="0">
                <a:spAutoFit/>
              </a:bodyPr>
              <a:lstStyle/>
              <a:p>
                <a:r>
                  <a:rPr lang="en-US" sz="2200" dirty="0"/>
                  <a:t>So now we have:</a:t>
                </a:r>
              </a:p>
              <a:p>
                <a:pPr marL="457200" indent="-457200">
                  <a:buFont typeface="Arial" panose="020B0604020202020204" pitchFamily="34" charset="0"/>
                  <a:buChar char="•"/>
                </a:pPr>
                <a:r>
                  <a:rPr lang="en-US" sz="2200" dirty="0"/>
                  <a:t>Defined a </a:t>
                </a:r>
                <a:r>
                  <a:rPr lang="en-US" sz="2200" i="1" dirty="0">
                    <a:solidFill>
                      <a:schemeClr val="accent2"/>
                    </a:solidFill>
                  </a:rPr>
                  <a:t>loss function</a:t>
                </a:r>
                <a:r>
                  <a:rPr lang="en-US" sz="2200" dirty="0"/>
                  <a:t> to optimize for linear regression. </a:t>
                </a:r>
              </a:p>
              <a:p>
                <a:pPr marL="457200" indent="-457200">
                  <a:buFont typeface="Arial" panose="020B0604020202020204" pitchFamily="34" charset="0"/>
                  <a:buChar char="•"/>
                </a:pPr>
                <a:r>
                  <a:rPr lang="en-US" sz="2200" dirty="0"/>
                  <a:t>Specified how to estimate the parameters that defines the optimal line (hyperplane).</a:t>
                </a:r>
                <a:br>
                  <a:rPr lang="en-US" sz="2200" dirty="0"/>
                </a:br>
                <a:endParaRPr lang="en-US" sz="2200" dirty="0"/>
              </a:p>
              <a:p>
                <a:r>
                  <a:rPr lang="en-US" sz="2200" dirty="0"/>
                  <a:t>We now have a measure of error. Next question is how to gauge the </a:t>
                </a:r>
                <a:r>
                  <a:rPr lang="en-US" sz="2200" b="1" dirty="0">
                    <a:solidFill>
                      <a:schemeClr val="accent2"/>
                    </a:solidFill>
                  </a:rPr>
                  <a:t>goodness of fit</a:t>
                </a:r>
                <a:r>
                  <a:rPr lang="en-US" sz="2200" dirty="0"/>
                  <a:t> we achieve with it? </a:t>
                </a:r>
              </a:p>
              <a:p>
                <a:r>
                  <a:rPr lang="en-US" sz="2200" dirty="0"/>
                  <a:t>We do this by calculating R</a:t>
                </a:r>
                <a:r>
                  <a:rPr lang="en-US" sz="2200" baseline="30000" dirty="0"/>
                  <a:t>2 </a:t>
                </a:r>
                <a:r>
                  <a:rPr lang="en-US" sz="2200" dirty="0"/>
                  <a:t>otherwise known as the </a:t>
                </a:r>
                <a:r>
                  <a:rPr lang="en-US" sz="2200" i="1" dirty="0">
                    <a:solidFill>
                      <a:schemeClr val="accent2"/>
                    </a:solidFill>
                  </a:rPr>
                  <a:t>coefficient of determination</a:t>
                </a:r>
                <a:r>
                  <a:rPr lang="en-US" sz="2200" dirty="0"/>
                  <a:t>.</a:t>
                </a:r>
              </a:p>
              <a:p>
                <a:pPr/>
                <a14:m>
                  <m:oMathPara xmlns:m="http://schemas.openxmlformats.org/officeDocument/2006/math">
                    <m:oMath>
                      <m:sSup>
                        <m:sSupPr>
                          <m:ctrlPr>
                            <a:rPr lang="en-US" sz="2200" b="0" i="1" smtClean="0">
                              <a:solidFill>
                                <a:schemeClr val="accent2"/>
                              </a:solidFill>
                              <a:latin typeface="Cambria Math" panose="02040503050406030204" pitchFamily="18" charset="0"/>
                            </a:rPr>
                          </m:ctrlPr>
                        </m:sSupPr>
                        <m:e>
                          <m:r>
                            <a:rPr lang="en-US" sz="2200" b="0" i="1" smtClean="0">
                              <a:solidFill>
                                <a:schemeClr val="accent2"/>
                              </a:solidFill>
                              <a:latin typeface="Cambria Math" panose="02040503050406030204" pitchFamily="18" charset="0"/>
                            </a:rPr>
                            <m:t>𝑅</m:t>
                          </m:r>
                        </m:e>
                        <m:sup>
                          <m:r>
                            <a:rPr lang="en-US" sz="2200" b="0" i="1" smtClean="0">
                              <a:solidFill>
                                <a:schemeClr val="accent2"/>
                              </a:solidFill>
                              <a:latin typeface="Cambria Math" panose="02040503050406030204" pitchFamily="18" charset="0"/>
                            </a:rPr>
                            <m:t>2</m:t>
                          </m:r>
                        </m:sup>
                      </m:sSup>
                      <m:r>
                        <a:rPr lang="en-US" sz="2200" b="0" i="1" smtClean="0">
                          <a:solidFill>
                            <a:schemeClr val="accent2"/>
                          </a:solidFill>
                          <a:latin typeface="Cambria Math" panose="02040503050406030204" pitchFamily="18" charset="0"/>
                        </a:rPr>
                        <m:t>= </m:t>
                      </m:r>
                      <m:sSup>
                        <m:sSupPr>
                          <m:ctrlPr>
                            <a:rPr lang="en-US" sz="2200" b="0" i="1" smtClean="0">
                              <a:solidFill>
                                <a:schemeClr val="accent2"/>
                              </a:solidFill>
                              <a:latin typeface="Cambria Math" panose="02040503050406030204" pitchFamily="18" charset="0"/>
                            </a:rPr>
                          </m:ctrlPr>
                        </m:sSupPr>
                        <m:e>
                          <m:r>
                            <a:rPr lang="en-US" sz="2200" b="0" i="1" smtClean="0">
                              <a:solidFill>
                                <a:schemeClr val="accent2"/>
                              </a:solidFill>
                              <a:latin typeface="Cambria Math" panose="02040503050406030204" pitchFamily="18" charset="0"/>
                            </a:rPr>
                            <m:t>(</m:t>
                          </m:r>
                          <m:r>
                            <a:rPr lang="en-US" sz="2200" b="0" i="1" smtClean="0">
                              <a:solidFill>
                                <a:schemeClr val="accent2"/>
                              </a:solidFill>
                              <a:latin typeface="Cambria Math" panose="02040503050406030204" pitchFamily="18" charset="0"/>
                            </a:rPr>
                            <m:t>𝑟</m:t>
                          </m:r>
                          <m:r>
                            <a:rPr lang="en-US" sz="2200" b="0" i="1" smtClean="0">
                              <a:solidFill>
                                <a:schemeClr val="accent2"/>
                              </a:solidFill>
                              <a:latin typeface="Cambria Math" panose="02040503050406030204" pitchFamily="18" charset="0"/>
                            </a:rPr>
                            <m:t>)</m:t>
                          </m:r>
                        </m:e>
                        <m:sup>
                          <m:r>
                            <a:rPr lang="en-US" sz="2200" b="0" i="1" smtClean="0">
                              <a:solidFill>
                                <a:schemeClr val="accent2"/>
                              </a:solidFill>
                              <a:latin typeface="Cambria Math" panose="02040503050406030204" pitchFamily="18" charset="0"/>
                            </a:rPr>
                            <m:t>2</m:t>
                          </m:r>
                        </m:sup>
                      </m:sSup>
                    </m:oMath>
                  </m:oMathPara>
                </a14:m>
                <a:endParaRPr lang="en-US" sz="2200" dirty="0">
                  <a:solidFill>
                    <a:schemeClr val="accent2"/>
                  </a:solidFill>
                </a:endParaRPr>
              </a:p>
            </p:txBody>
          </p:sp>
        </mc:Choice>
        <mc:Fallback xmlns="">
          <p:sp>
            <p:nvSpPr>
              <p:cNvPr id="2" name="TextBox 1">
                <a:extLst>
                  <a:ext uri="{FF2B5EF4-FFF2-40B4-BE49-F238E27FC236}">
                    <a16:creationId xmlns:a16="http://schemas.microsoft.com/office/drawing/2014/main" id="{6328B49C-3284-E6D1-5106-5860F74A6515}"/>
                  </a:ext>
                </a:extLst>
              </p:cNvPr>
              <p:cNvSpPr txBox="1">
                <a:spLocks noRot="1" noChangeAspect="1" noMove="1" noResize="1" noEditPoints="1" noAdjustHandles="1" noChangeArrowheads="1" noChangeShapeType="1" noTextEdit="1"/>
              </p:cNvSpPr>
              <p:nvPr/>
            </p:nvSpPr>
            <p:spPr>
              <a:xfrm>
                <a:off x="658159" y="1261640"/>
                <a:ext cx="4390409" cy="4832092"/>
              </a:xfrm>
              <a:prstGeom prst="rect">
                <a:avLst/>
              </a:prstGeom>
              <a:blipFill>
                <a:blip r:embed="rId4"/>
                <a:stretch>
                  <a:fillRect l="-1729" t="-785" b="-524"/>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615913" y="324091"/>
            <a:ext cx="11238676" cy="710258"/>
          </a:xfrm>
          <a:prstGeom prst="rect">
            <a:avLst/>
          </a:prstGeom>
        </p:spPr>
        <p:txBody>
          <a:bodyPr spcFirstLastPara="1" vert="horz" wrap="square" lIns="121900" tIns="121900" rIns="121900" bIns="121900" rtlCol="0" anchor="t" anchorCtr="0">
            <a:normAutofit fontScale="90000"/>
          </a:bodyPr>
          <a:lstStyle/>
          <a:p>
            <a:r>
              <a:rPr lang="en" dirty="0"/>
              <a:t>Goodness of fit: R-squared</a:t>
            </a:r>
            <a:endParaRPr dirty="0"/>
          </a:p>
        </p:txBody>
      </p:sp>
      <p:pic>
        <p:nvPicPr>
          <p:cNvPr id="157" name="Google Shape;157;p24"/>
          <p:cNvPicPr preferRelativeResize="0"/>
          <p:nvPr/>
        </p:nvPicPr>
        <p:blipFill>
          <a:blip r:embed="rId3">
            <a:alphaModFix/>
          </a:blip>
          <a:stretch>
            <a:fillRect/>
          </a:stretch>
        </p:blipFill>
        <p:spPr>
          <a:xfrm>
            <a:off x="491334" y="1204533"/>
            <a:ext cx="5771501" cy="5080520"/>
          </a:xfrm>
          <a:prstGeom prst="rect">
            <a:avLst/>
          </a:prstGeom>
          <a:noFill/>
          <a:ln>
            <a:noFill/>
          </a:ln>
        </p:spPr>
      </p:pic>
      <p:sp>
        <p:nvSpPr>
          <p:cNvPr id="158" name="Google Shape;158;p24"/>
          <p:cNvSpPr/>
          <p:nvPr/>
        </p:nvSpPr>
        <p:spPr>
          <a:xfrm>
            <a:off x="2440533" y="2094833"/>
            <a:ext cx="492400" cy="2775600"/>
          </a:xfrm>
          <a:prstGeom prst="rightBrace">
            <a:avLst>
              <a:gd name="adj1" fmla="val 50000"/>
              <a:gd name="adj2" fmla="val 50000"/>
            </a:avLst>
          </a:prstGeom>
          <a:noFill/>
          <a:ln w="19050" cap="flat" cmpd="sng">
            <a:solidFill>
              <a:srgbClr val="3D85C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mc:AlternateContent xmlns:mc="http://schemas.openxmlformats.org/markup-compatibility/2006" xmlns:a14="http://schemas.microsoft.com/office/drawing/2010/main">
        <mc:Choice Requires="a14">
          <p:sp>
            <p:nvSpPr>
              <p:cNvPr id="159" name="Google Shape;159;p24"/>
              <p:cNvSpPr txBox="1"/>
              <p:nvPr/>
            </p:nvSpPr>
            <p:spPr>
              <a:xfrm>
                <a:off x="2686733" y="1561922"/>
                <a:ext cx="3659070" cy="1004530"/>
              </a:xfrm>
              <a:prstGeom prst="rect">
                <a:avLst/>
              </a:prstGeom>
              <a:noFill/>
              <a:ln>
                <a:noFill/>
              </a:ln>
            </p:spPr>
            <p:txBody>
              <a:bodyPr spcFirstLastPara="1" wrap="square" lIns="121900" tIns="121900" rIns="121900" bIns="121900" anchor="t" anchorCtr="0">
                <a:spAutoFit/>
              </a:bodyPr>
              <a:lstStyle/>
              <a:p>
                <a:r>
                  <a:rPr lang="en-US" sz="2000" dirty="0"/>
                  <a:t>SS(mean) = </a:t>
                </a:r>
                <a:r>
                  <a:rPr lang="en-US" sz="2000" dirty="0">
                    <a:solidFill>
                      <a:schemeClr val="dk1"/>
                    </a:solidFill>
                  </a:rPr>
                  <a:t>∑</a:t>
                </a:r>
                <a:r>
                  <a:rPr lang="en-US" sz="2000" dirty="0"/>
                  <a:t>(data-mean)</a:t>
                </a:r>
                <a:r>
                  <a:rPr lang="en-US" sz="2000" baseline="30000" dirty="0"/>
                  <a:t>2</a:t>
                </a:r>
                <a:endParaRPr lang="en-US" sz="2000" dirty="0"/>
              </a:p>
              <a:p>
                <a:r>
                  <a:rPr lang="en-US" sz="2000" dirty="0"/>
                  <a:t>Var(mean) = </a:t>
                </a:r>
                <a14:m>
                  <m:oMath xmlns:m="http://schemas.openxmlformats.org/officeDocument/2006/math">
                    <m:f>
                      <m:fPr>
                        <m:ctrlPr>
                          <a:rPr lang="ar-AE" sz="2000" b="0" i="1" smtClean="0">
                            <a:latin typeface="Cambria Math" panose="02040503050406030204" pitchFamily="18" charset="0"/>
                          </a:rPr>
                        </m:ctrlPr>
                      </m:fPr>
                      <m:num>
                        <m:r>
                          <a:rPr lang="ar-AE" sz="2000" b="0" i="1" smtClean="0">
                            <a:latin typeface="Cambria Math" panose="02040503050406030204" pitchFamily="18" charset="0"/>
                          </a:rPr>
                          <m:t>𝑆</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𝑚𝑒𝑎𝑛</m:t>
                        </m:r>
                        <m:r>
                          <a:rPr lang="en-US" sz="2000" b="0" i="1" smtClean="0">
                            <a:latin typeface="Cambria Math" panose="02040503050406030204" pitchFamily="18" charset="0"/>
                          </a:rPr>
                          <m:t>)</m:t>
                        </m:r>
                      </m:num>
                      <m:den>
                        <m:r>
                          <a:rPr lang="en-US" sz="2000" b="0" i="1" smtClean="0">
                            <a:latin typeface="Cambria Math" panose="02040503050406030204" pitchFamily="18" charset="0"/>
                          </a:rPr>
                          <m:t>𝑛</m:t>
                        </m:r>
                      </m:den>
                    </m:f>
                    <m:r>
                      <a:rPr lang="en-US" sz="2000" b="0" i="0" smtClean="0">
                        <a:latin typeface="Cambria Math" panose="02040503050406030204" pitchFamily="18" charset="0"/>
                      </a:rPr>
                      <m:t>; </m:t>
                    </m:r>
                  </m:oMath>
                </a14:m>
                <a:r>
                  <a:rPr lang="en-US" sz="1300" dirty="0"/>
                  <a:t>n is sample size</a:t>
                </a:r>
                <a:endParaRPr sz="1300" dirty="0"/>
              </a:p>
            </p:txBody>
          </p:sp>
        </mc:Choice>
        <mc:Fallback xmlns="">
          <p:sp>
            <p:nvSpPr>
              <p:cNvPr id="159" name="Google Shape;159;p24"/>
              <p:cNvSpPr txBox="1">
                <a:spLocks noRot="1" noChangeAspect="1" noMove="1" noResize="1" noEditPoints="1" noAdjustHandles="1" noChangeArrowheads="1" noChangeShapeType="1" noTextEdit="1"/>
              </p:cNvSpPr>
              <p:nvPr/>
            </p:nvSpPr>
            <p:spPr>
              <a:xfrm>
                <a:off x="2686733" y="1561922"/>
                <a:ext cx="3659070" cy="1004530"/>
              </a:xfrm>
              <a:prstGeom prst="rect">
                <a:avLst/>
              </a:prstGeom>
              <a:blipFill>
                <a:blip r:embed="rId4"/>
                <a:stretch>
                  <a:fillRect l="-1038"/>
                </a:stretch>
              </a:blipFill>
              <a:ln>
                <a:noFill/>
              </a:ln>
            </p:spPr>
            <p:txBody>
              <a:bodyPr/>
              <a:lstStyle/>
              <a:p>
                <a:r>
                  <a:rPr lang="en-US">
                    <a:noFill/>
                  </a:rPr>
                  <a:t> </a:t>
                </a:r>
              </a:p>
            </p:txBody>
          </p:sp>
        </mc:Fallback>
      </mc:AlternateContent>
      <p:pic>
        <p:nvPicPr>
          <p:cNvPr id="161" name="Google Shape;161;p24"/>
          <p:cNvPicPr preferRelativeResize="0"/>
          <p:nvPr/>
        </p:nvPicPr>
        <p:blipFill>
          <a:blip r:embed="rId5">
            <a:alphaModFix/>
          </a:blip>
          <a:stretch>
            <a:fillRect/>
          </a:stretch>
        </p:blipFill>
        <p:spPr>
          <a:xfrm>
            <a:off x="6235251" y="1204532"/>
            <a:ext cx="5541150" cy="5080521"/>
          </a:xfrm>
          <a:prstGeom prst="rect">
            <a:avLst/>
          </a:prstGeom>
          <a:noFill/>
          <a:ln>
            <a:noFill/>
          </a:ln>
        </p:spPr>
      </p:pic>
      <mc:AlternateContent xmlns:mc="http://schemas.openxmlformats.org/markup-compatibility/2006" xmlns:a14="http://schemas.microsoft.com/office/drawing/2010/main">
        <mc:Choice Requires="a14">
          <p:sp>
            <p:nvSpPr>
              <p:cNvPr id="162" name="Google Shape;162;p24"/>
              <p:cNvSpPr txBox="1"/>
              <p:nvPr/>
            </p:nvSpPr>
            <p:spPr>
              <a:xfrm>
                <a:off x="7182633" y="1468020"/>
                <a:ext cx="4446867" cy="1004530"/>
              </a:xfrm>
              <a:prstGeom prst="rect">
                <a:avLst/>
              </a:prstGeom>
              <a:noFill/>
              <a:ln>
                <a:noFill/>
              </a:ln>
            </p:spPr>
            <p:txBody>
              <a:bodyPr spcFirstLastPara="1" wrap="square" lIns="121900" tIns="121900" rIns="121900" bIns="121900" anchor="t" anchorCtr="0">
                <a:spAutoFit/>
              </a:bodyPr>
              <a:lstStyle/>
              <a:p>
                <a:pPr>
                  <a:buClr>
                    <a:schemeClr val="dk1"/>
                  </a:buClr>
                  <a:buSzPts val="1100"/>
                </a:pPr>
                <a:r>
                  <a:rPr lang="en-US" sz="2000" dirty="0">
                    <a:solidFill>
                      <a:schemeClr val="dk1"/>
                    </a:solidFill>
                  </a:rPr>
                  <a:t>SS(fit) = ∑(data-fit)</a:t>
                </a:r>
                <a:r>
                  <a:rPr lang="en-US" sz="2000" baseline="30000" dirty="0">
                    <a:solidFill>
                      <a:schemeClr val="dk1"/>
                    </a:solidFill>
                  </a:rPr>
                  <a:t>2</a:t>
                </a:r>
                <a:endParaRPr lang="en-US" sz="2000" dirty="0">
                  <a:solidFill>
                    <a:schemeClr val="dk1"/>
                  </a:solidFill>
                </a:endParaRPr>
              </a:p>
              <a:p>
                <a:pPr>
                  <a:buClr>
                    <a:schemeClr val="dk1"/>
                  </a:buClr>
                  <a:buSzPts val="1100"/>
                </a:pPr>
                <a:r>
                  <a:rPr lang="en-US" sz="2000" dirty="0">
                    <a:solidFill>
                      <a:schemeClr val="dk1"/>
                    </a:solidFill>
                  </a:rPr>
                  <a:t>Var(fit) = </a:t>
                </a:r>
                <a:r>
                  <a:rPr lang="en-US" sz="2000" dirty="0"/>
                  <a:t>= </a:t>
                </a:r>
                <a14:m>
                  <m:oMath xmlns:m="http://schemas.openxmlformats.org/officeDocument/2006/math">
                    <m:f>
                      <m:fPr>
                        <m:ctrlPr>
                          <a:rPr lang="ar-AE" sz="2000" i="1">
                            <a:latin typeface="Cambria Math" panose="02040503050406030204" pitchFamily="18" charset="0"/>
                          </a:rPr>
                        </m:ctrlPr>
                      </m:fPr>
                      <m:num>
                        <m:r>
                          <a:rPr lang="ar-AE" sz="2000" i="1">
                            <a:latin typeface="Cambria Math" panose="02040503050406030204" pitchFamily="18" charset="0"/>
                          </a:rPr>
                          <m:t>𝑆𝑆</m:t>
                        </m:r>
                        <m:r>
                          <a:rPr lang="ar-AE" sz="2000" i="1">
                            <a:latin typeface="Cambria Math" panose="02040503050406030204" pitchFamily="18" charset="0"/>
                          </a:rPr>
                          <m:t>(</m:t>
                        </m:r>
                        <m:r>
                          <a:rPr lang="ar-AE" sz="2000" b="0" i="1" smtClean="0">
                            <a:latin typeface="Cambria Math" panose="02040503050406030204" pitchFamily="18" charset="0"/>
                          </a:rPr>
                          <m:t>𝑓</m:t>
                        </m:r>
                        <m:r>
                          <a:rPr lang="en-US" sz="2000" b="0" i="1" smtClean="0">
                            <a:latin typeface="Cambria Math" panose="02040503050406030204" pitchFamily="18" charset="0"/>
                          </a:rPr>
                          <m:t>𝑖𝑡</m:t>
                        </m:r>
                        <m:r>
                          <a:rPr lang="ar-AE" sz="2000" i="1">
                            <a:latin typeface="Cambria Math" panose="02040503050406030204" pitchFamily="18" charset="0"/>
                          </a:rPr>
                          <m:t>)</m:t>
                        </m:r>
                      </m:num>
                      <m:den>
                        <m:r>
                          <a:rPr lang="ar-AE" sz="2000" i="1">
                            <a:latin typeface="Cambria Math" panose="02040503050406030204" pitchFamily="18" charset="0"/>
                          </a:rPr>
                          <m:t>𝑛</m:t>
                        </m:r>
                      </m:den>
                    </m:f>
                    <m:r>
                      <a:rPr lang="en-US" sz="2000" b="0" i="0" smtClean="0">
                        <a:latin typeface="Cambria Math" panose="02040503050406030204" pitchFamily="18" charset="0"/>
                      </a:rPr>
                      <m:t> </m:t>
                    </m:r>
                  </m:oMath>
                </a14:m>
                <a:r>
                  <a:rPr lang="ar-AE" sz="1333" i="1" dirty="0">
                    <a:solidFill>
                      <a:schemeClr val="dk1"/>
                    </a:solidFill>
                  </a:rPr>
                  <a:t>; </a:t>
                </a:r>
                <a:r>
                  <a:rPr lang="en-US" sz="1333" i="1" dirty="0">
                    <a:solidFill>
                      <a:schemeClr val="dk1"/>
                    </a:solidFill>
                  </a:rPr>
                  <a:t>n is sample size</a:t>
                </a:r>
                <a:endParaRPr sz="2400" dirty="0"/>
              </a:p>
            </p:txBody>
          </p:sp>
        </mc:Choice>
        <mc:Fallback xmlns="">
          <p:sp>
            <p:nvSpPr>
              <p:cNvPr id="162" name="Google Shape;162;p24"/>
              <p:cNvSpPr txBox="1">
                <a:spLocks noRot="1" noChangeAspect="1" noMove="1" noResize="1" noEditPoints="1" noAdjustHandles="1" noChangeArrowheads="1" noChangeShapeType="1" noTextEdit="1"/>
              </p:cNvSpPr>
              <p:nvPr/>
            </p:nvSpPr>
            <p:spPr>
              <a:xfrm>
                <a:off x="7182633" y="1468020"/>
                <a:ext cx="4446867" cy="1004530"/>
              </a:xfrm>
              <a:prstGeom prst="rect">
                <a:avLst/>
              </a:prstGeom>
              <a:blipFill>
                <a:blip r:embed="rId6"/>
                <a:stretch>
                  <a:fillRect l="-570"/>
                </a:stretch>
              </a:blipFill>
              <a:ln>
                <a:noFill/>
              </a:ln>
            </p:spPr>
            <p:txBody>
              <a:bodyPr/>
              <a:lstStyle/>
              <a:p>
                <a:r>
                  <a:rPr lang="en-US">
                    <a:noFill/>
                  </a:rPr>
                  <a:t> </a:t>
                </a:r>
              </a:p>
            </p:txBody>
          </p:sp>
        </mc:Fallback>
      </mc:AlternateContent>
      <p:sp>
        <p:nvSpPr>
          <p:cNvPr id="164" name="Google Shape;164;p24"/>
          <p:cNvSpPr txBox="1"/>
          <p:nvPr/>
        </p:nvSpPr>
        <p:spPr>
          <a:xfrm>
            <a:off x="3247000" y="2395167"/>
            <a:ext cx="1822400" cy="656421"/>
          </a:xfrm>
          <a:prstGeom prst="rect">
            <a:avLst/>
          </a:prstGeom>
          <a:noFill/>
          <a:ln>
            <a:noFill/>
          </a:ln>
        </p:spPr>
        <p:txBody>
          <a:bodyPr spcFirstLastPara="1" wrap="square" lIns="121900" tIns="121900" rIns="121900" bIns="121900" anchor="t" anchorCtr="0">
            <a:spAutoFit/>
          </a:bodyPr>
          <a:lstStyle/>
          <a:p>
            <a:pPr algn="ctr"/>
            <a:r>
              <a:rPr lang="en" sz="1333" b="1" dirty="0"/>
              <a:t>Raw variation mouse weight</a:t>
            </a:r>
            <a:endParaRPr sz="1333" b="1" dirty="0"/>
          </a:p>
        </p:txBody>
      </p:sp>
      <p:sp>
        <p:nvSpPr>
          <p:cNvPr id="165" name="Google Shape;165;p24"/>
          <p:cNvSpPr txBox="1"/>
          <p:nvPr/>
        </p:nvSpPr>
        <p:spPr>
          <a:xfrm>
            <a:off x="7405267" y="2292567"/>
            <a:ext cx="2000800" cy="861542"/>
          </a:xfrm>
          <a:prstGeom prst="rect">
            <a:avLst/>
          </a:prstGeom>
          <a:noFill/>
          <a:ln>
            <a:noFill/>
          </a:ln>
        </p:spPr>
        <p:txBody>
          <a:bodyPr spcFirstLastPara="1" wrap="square" lIns="121900" tIns="121900" rIns="121900" bIns="121900" anchor="t" anchorCtr="0">
            <a:spAutoFit/>
          </a:bodyPr>
          <a:lstStyle/>
          <a:p>
            <a:pPr algn="ctr"/>
            <a:r>
              <a:rPr lang="en" sz="1333" b="1" dirty="0"/>
              <a:t>Variation in predicted weight around the least squares line</a:t>
            </a:r>
            <a:endParaRPr sz="1333" b="1" dirty="0"/>
          </a:p>
        </p:txBody>
      </p:sp>
      <p:cxnSp>
        <p:nvCxnSpPr>
          <p:cNvPr id="166" name="Google Shape;166;p24"/>
          <p:cNvCxnSpPr/>
          <p:nvPr/>
        </p:nvCxnSpPr>
        <p:spPr>
          <a:xfrm flipH="1">
            <a:off x="2796617" y="2707967"/>
            <a:ext cx="809600" cy="329600"/>
          </a:xfrm>
          <a:prstGeom prst="straightConnector1">
            <a:avLst/>
          </a:prstGeom>
          <a:noFill/>
          <a:ln w="19050" cap="flat" cmpd="sng">
            <a:solidFill>
              <a:schemeClr val="dk2"/>
            </a:solidFill>
            <a:prstDash val="solid"/>
            <a:round/>
            <a:headEnd type="none" w="med" len="med"/>
            <a:tailEnd type="triangle" w="med" len="med"/>
          </a:ln>
        </p:spPr>
      </p:cxnSp>
      <p:cxnSp>
        <p:nvCxnSpPr>
          <p:cNvPr id="167" name="Google Shape;167;p24"/>
          <p:cNvCxnSpPr/>
          <p:nvPr/>
        </p:nvCxnSpPr>
        <p:spPr>
          <a:xfrm>
            <a:off x="8180367" y="3016567"/>
            <a:ext cx="994800" cy="607600"/>
          </a:xfrm>
          <a:prstGeom prst="straightConnector1">
            <a:avLst/>
          </a:prstGeom>
          <a:noFill/>
          <a:ln w="19050" cap="flat" cmpd="sng">
            <a:solidFill>
              <a:schemeClr val="dk2"/>
            </a:solidFill>
            <a:prstDash val="solid"/>
            <a:round/>
            <a:headEnd type="none" w="med" len="med"/>
            <a:tailEnd type="triangle" w="med" len="med"/>
          </a:ln>
        </p:spPr>
      </p:cxnSp>
      <p:sp>
        <p:nvSpPr>
          <p:cNvPr id="168" name="Google Shape;168;p24"/>
          <p:cNvSpPr txBox="1"/>
          <p:nvPr/>
        </p:nvSpPr>
        <p:spPr>
          <a:xfrm>
            <a:off x="3477433" y="3435534"/>
            <a:ext cx="2534800" cy="984845"/>
          </a:xfrm>
          <a:prstGeom prst="rect">
            <a:avLst/>
          </a:prstGeom>
          <a:noFill/>
          <a:ln>
            <a:noFill/>
          </a:ln>
        </p:spPr>
        <p:txBody>
          <a:bodyPr spcFirstLastPara="1" wrap="square" lIns="121900" tIns="121900" rIns="121900" bIns="121900" anchor="t" anchorCtr="0">
            <a:spAutoFit/>
          </a:bodyPr>
          <a:lstStyle/>
          <a:p>
            <a:pPr algn="ctr"/>
            <a:r>
              <a:rPr lang="en" sz="1600" b="1" dirty="0"/>
              <a:t>Less variation around the line that we fit by least squares</a:t>
            </a:r>
            <a:endParaRPr sz="1600" b="1" dirty="0"/>
          </a:p>
        </p:txBody>
      </p:sp>
      <p:cxnSp>
        <p:nvCxnSpPr>
          <p:cNvPr id="169" name="Google Shape;169;p24"/>
          <p:cNvCxnSpPr/>
          <p:nvPr/>
        </p:nvCxnSpPr>
        <p:spPr>
          <a:xfrm rot="10800000">
            <a:off x="2761433" y="3624167"/>
            <a:ext cx="880000" cy="272400"/>
          </a:xfrm>
          <a:prstGeom prst="straightConnector1">
            <a:avLst/>
          </a:prstGeom>
          <a:noFill/>
          <a:ln w="19050" cap="flat" cmpd="sng">
            <a:solidFill>
              <a:schemeClr val="dk2"/>
            </a:solidFill>
            <a:prstDash val="solid"/>
            <a:round/>
            <a:headEnd type="none" w="med" len="med"/>
            <a:tailEnd type="triangle" w="med" len="med"/>
          </a:ln>
        </p:spPr>
      </p:cxnSp>
      <p:cxnSp>
        <p:nvCxnSpPr>
          <p:cNvPr id="170" name="Google Shape;170;p24"/>
          <p:cNvCxnSpPr/>
          <p:nvPr/>
        </p:nvCxnSpPr>
        <p:spPr>
          <a:xfrm>
            <a:off x="5498967" y="4200167"/>
            <a:ext cx="1801600" cy="932400"/>
          </a:xfrm>
          <a:prstGeom prst="straightConnector1">
            <a:avLst/>
          </a:prstGeom>
          <a:noFill/>
          <a:ln w="9525" cap="flat" cmpd="sng">
            <a:solidFill>
              <a:schemeClr val="dk2"/>
            </a:solidFill>
            <a:prstDash val="solid"/>
            <a:round/>
            <a:headEnd type="none" w="med" len="med"/>
            <a:tailEnd type="triangle" w="med" len="med"/>
          </a:ln>
        </p:spPr>
      </p:cxnSp>
      <p:sp>
        <p:nvSpPr>
          <p:cNvPr id="171" name="Google Shape;171;p24"/>
          <p:cNvSpPr txBox="1"/>
          <p:nvPr/>
        </p:nvSpPr>
        <p:spPr>
          <a:xfrm>
            <a:off x="2869933" y="4608668"/>
            <a:ext cx="3540400" cy="738623"/>
          </a:xfrm>
          <a:prstGeom prst="rect">
            <a:avLst/>
          </a:prstGeom>
          <a:noFill/>
          <a:ln>
            <a:noFill/>
          </a:ln>
        </p:spPr>
        <p:txBody>
          <a:bodyPr spcFirstLastPara="1" wrap="square" lIns="121900" tIns="121900" rIns="121900" bIns="121900" anchor="t" anchorCtr="0">
            <a:spAutoFit/>
          </a:bodyPr>
          <a:lstStyle/>
          <a:p>
            <a:r>
              <a:rPr lang="en" sz="1600" b="1">
                <a:solidFill>
                  <a:schemeClr val="accent2"/>
                </a:solidFill>
              </a:rPr>
              <a:t>Some variation in mouse weight is “explained” by mouse size</a:t>
            </a:r>
            <a:endParaRPr sz="1600" b="1">
              <a:solidFill>
                <a:schemeClr val="accent2"/>
              </a:solidFill>
            </a:endParaRPr>
          </a:p>
        </p:txBody>
      </p:sp>
      <p:sp>
        <p:nvSpPr>
          <p:cNvPr id="2" name="TextBox 1">
            <a:extLst>
              <a:ext uri="{FF2B5EF4-FFF2-40B4-BE49-F238E27FC236}">
                <a16:creationId xmlns:a16="http://schemas.microsoft.com/office/drawing/2014/main" id="{C45D75DB-4376-9548-60E6-CFA0AE85A590}"/>
              </a:ext>
            </a:extLst>
          </p:cNvPr>
          <p:cNvSpPr txBox="1"/>
          <p:nvPr/>
        </p:nvSpPr>
        <p:spPr>
          <a:xfrm>
            <a:off x="2516004" y="1222638"/>
            <a:ext cx="4248214" cy="369332"/>
          </a:xfrm>
          <a:prstGeom prst="rect">
            <a:avLst/>
          </a:prstGeom>
          <a:noFill/>
        </p:spPr>
        <p:txBody>
          <a:bodyPr wrap="none" rtlCol="0">
            <a:spAutoFit/>
          </a:bodyPr>
          <a:lstStyle/>
          <a:p>
            <a:r>
              <a:rPr lang="en-US" dirty="0">
                <a:solidFill>
                  <a:schemeClr val="accent2"/>
                </a:solidFill>
              </a:rPr>
              <a:t>SS here stands for sum of squared residuals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64"/>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6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171"/>
                                        </p:tgtEl>
                                        <p:attrNameLst>
                                          <p:attrName>style.visibility</p:attrName>
                                        </p:attrNameLst>
                                      </p:cBhvr>
                                      <p:to>
                                        <p:strVal val="visible"/>
                                      </p:to>
                                    </p:set>
                                    <p:anim calcmode="lin" valueType="num">
                                      <p:cBhvr additive="base">
                                        <p:cTn id="45" dur="1000"/>
                                        <p:tgtEl>
                                          <p:spTgt spid="171"/>
                                        </p:tgtEl>
                                        <p:attrNameLst>
                                          <p:attrName>ppt_w</p:attrName>
                                        </p:attrNameLst>
                                      </p:cBhvr>
                                      <p:tavLst>
                                        <p:tav tm="0">
                                          <p:val>
                                            <p:strVal val="0"/>
                                          </p:val>
                                        </p:tav>
                                        <p:tav tm="100000">
                                          <p:val>
                                            <p:strVal val="#ppt_w"/>
                                          </p:val>
                                        </p:tav>
                                      </p:tavLst>
                                    </p:anim>
                                    <p:anim calcmode="lin" valueType="num">
                                      <p:cBhvr additive="base">
                                        <p:cTn id="46" dur="1000"/>
                                        <p:tgtEl>
                                          <p:spTgt spid="17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625032" y="396523"/>
            <a:ext cx="11307435" cy="628400"/>
          </a:xfrm>
          <a:prstGeom prst="rect">
            <a:avLst/>
          </a:prstGeom>
        </p:spPr>
        <p:txBody>
          <a:bodyPr spcFirstLastPara="1" vert="horz" wrap="square" lIns="121900" tIns="121900" rIns="121900" bIns="121900" rtlCol="0" anchor="t" anchorCtr="0">
            <a:normAutofit fontScale="90000"/>
          </a:bodyPr>
          <a:lstStyle/>
          <a:p>
            <a:r>
              <a:rPr lang="en" dirty="0"/>
              <a:t>Goodness of fit</a:t>
            </a:r>
            <a:endParaRPr dirty="0"/>
          </a:p>
        </p:txBody>
      </p:sp>
      <p:pic>
        <p:nvPicPr>
          <p:cNvPr id="177" name="Google Shape;177;p25"/>
          <p:cNvPicPr preferRelativeResize="0"/>
          <p:nvPr/>
        </p:nvPicPr>
        <p:blipFill>
          <a:blip r:embed="rId3">
            <a:alphaModFix/>
          </a:blip>
          <a:stretch>
            <a:fillRect/>
          </a:stretch>
        </p:blipFill>
        <p:spPr>
          <a:xfrm>
            <a:off x="415601" y="1172093"/>
            <a:ext cx="5509434" cy="5217132"/>
          </a:xfrm>
          <a:prstGeom prst="rect">
            <a:avLst/>
          </a:prstGeom>
          <a:noFill/>
          <a:ln>
            <a:noFill/>
          </a:ln>
        </p:spPr>
      </p:pic>
      <p:sp>
        <p:nvSpPr>
          <p:cNvPr id="178" name="Google Shape;178;p25"/>
          <p:cNvSpPr/>
          <p:nvPr/>
        </p:nvSpPr>
        <p:spPr>
          <a:xfrm>
            <a:off x="2440533" y="2094833"/>
            <a:ext cx="492400" cy="2775600"/>
          </a:xfrm>
          <a:prstGeom prst="rightBrace">
            <a:avLst>
              <a:gd name="adj1" fmla="val 50000"/>
              <a:gd name="adj2" fmla="val 50000"/>
            </a:avLst>
          </a:prstGeom>
          <a:noFill/>
          <a:ln w="19050" cap="flat" cmpd="sng">
            <a:solidFill>
              <a:srgbClr val="3D85C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pic>
        <p:nvPicPr>
          <p:cNvPr id="179" name="Google Shape;179;p25"/>
          <p:cNvPicPr preferRelativeResize="0"/>
          <p:nvPr/>
        </p:nvPicPr>
        <p:blipFill>
          <a:blip r:embed="rId4">
            <a:alphaModFix/>
          </a:blip>
          <a:stretch>
            <a:fillRect/>
          </a:stretch>
        </p:blipFill>
        <p:spPr>
          <a:xfrm>
            <a:off x="6423034" y="1264690"/>
            <a:ext cx="5509434" cy="5124535"/>
          </a:xfrm>
          <a:prstGeom prst="rect">
            <a:avLst/>
          </a:prstGeom>
          <a:noFill/>
          <a:ln>
            <a:noFill/>
          </a:ln>
        </p:spPr>
      </p:pic>
      <p:sp>
        <p:nvSpPr>
          <p:cNvPr id="180" name="Google Shape;180;p25"/>
          <p:cNvSpPr txBox="1"/>
          <p:nvPr/>
        </p:nvSpPr>
        <p:spPr>
          <a:xfrm>
            <a:off x="3179594" y="1702297"/>
            <a:ext cx="3177967" cy="1169511"/>
          </a:xfrm>
          <a:prstGeom prst="rect">
            <a:avLst/>
          </a:prstGeom>
          <a:noFill/>
          <a:ln>
            <a:noFill/>
          </a:ln>
        </p:spPr>
        <p:txBody>
          <a:bodyPr spcFirstLastPara="1" wrap="square" lIns="121900" tIns="121900" rIns="121900" bIns="121900" anchor="t" anchorCtr="0">
            <a:spAutoFit/>
          </a:bodyPr>
          <a:lstStyle/>
          <a:p>
            <a:pPr algn="ctr"/>
            <a:r>
              <a:rPr lang="en" sz="2000" b="1" dirty="0"/>
              <a:t>R</a:t>
            </a:r>
            <a:r>
              <a:rPr lang="en" sz="2000" b="1" baseline="30000" dirty="0"/>
              <a:t>2</a:t>
            </a:r>
            <a:r>
              <a:rPr lang="en" sz="2000" b="1" dirty="0"/>
              <a:t> tells how much variation in mouse weight can be explained by mouse size</a:t>
            </a:r>
            <a:endParaRPr sz="2000" b="1" dirty="0"/>
          </a:p>
        </p:txBody>
      </p:sp>
      <p:pic>
        <p:nvPicPr>
          <p:cNvPr id="181" name="Google Shape;181;p25"/>
          <p:cNvPicPr preferRelativeResize="0"/>
          <p:nvPr/>
        </p:nvPicPr>
        <p:blipFill>
          <a:blip r:embed="rId5">
            <a:alphaModFix/>
          </a:blip>
          <a:stretch>
            <a:fillRect/>
          </a:stretch>
        </p:blipFill>
        <p:spPr>
          <a:xfrm>
            <a:off x="3206154" y="3589383"/>
            <a:ext cx="3177967" cy="747233"/>
          </a:xfrm>
          <a:prstGeom prst="rect">
            <a:avLst/>
          </a:prstGeom>
          <a:noFill/>
          <a:ln>
            <a:noFill/>
          </a:ln>
        </p:spPr>
      </p:pic>
      <p:pic>
        <p:nvPicPr>
          <p:cNvPr id="182" name="Google Shape;182;p25"/>
          <p:cNvPicPr preferRelativeResize="0"/>
          <p:nvPr/>
        </p:nvPicPr>
        <p:blipFill>
          <a:blip r:embed="rId6">
            <a:alphaModFix/>
          </a:blip>
          <a:stretch>
            <a:fillRect/>
          </a:stretch>
        </p:blipFill>
        <p:spPr>
          <a:xfrm>
            <a:off x="3191948" y="4410201"/>
            <a:ext cx="3153260" cy="722877"/>
          </a:xfrm>
          <a:prstGeom prst="rect">
            <a:avLst/>
          </a:prstGeom>
          <a:noFill/>
          <a:ln>
            <a:noFill/>
          </a:ln>
        </p:spPr>
      </p:pic>
      <p:sp>
        <p:nvSpPr>
          <p:cNvPr id="2" name="Rounded Rectangle 1">
            <a:extLst>
              <a:ext uri="{FF2B5EF4-FFF2-40B4-BE49-F238E27FC236}">
                <a16:creationId xmlns:a16="http://schemas.microsoft.com/office/drawing/2014/main" id="{216E808F-6DFD-7283-48B7-F26AF508A021}"/>
              </a:ext>
            </a:extLst>
          </p:cNvPr>
          <p:cNvSpPr/>
          <p:nvPr/>
        </p:nvSpPr>
        <p:spPr>
          <a:xfrm>
            <a:off x="2294247" y="1517836"/>
            <a:ext cx="6949440" cy="1688456"/>
          </a:xfrm>
          <a:prstGeom prst="round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R</a:t>
            </a:r>
            <a:r>
              <a:rPr lang="en-US" baseline="30000" dirty="0">
                <a:solidFill>
                  <a:schemeClr val="accent2"/>
                </a:solidFill>
              </a:rPr>
              <a:t>2</a:t>
            </a:r>
            <a:r>
              <a:rPr lang="en-US" dirty="0">
                <a:solidFill>
                  <a:schemeClr val="accent2"/>
                </a:solidFill>
              </a:rPr>
              <a:t> is defined as the ratio of the difference in this variation between the mean fit and the optimal fit to the mean fit’s variation. Intuitively, this tells us what percentage of variation of the dependent variable can be accounted for by using the independent variable(s). </a:t>
            </a:r>
            <a:br>
              <a:rPr lang="en-US" dirty="0">
                <a:solidFill>
                  <a:schemeClr val="accent2"/>
                </a:solidFill>
              </a:rPr>
            </a:br>
            <a:r>
              <a:rPr lang="en-US" i="1" dirty="0">
                <a:solidFill>
                  <a:schemeClr val="accent2"/>
                </a:solidFill>
              </a:rPr>
              <a:t>A higher R</a:t>
            </a:r>
            <a:r>
              <a:rPr lang="en-US" i="1" baseline="30000" dirty="0">
                <a:solidFill>
                  <a:schemeClr val="accent2"/>
                </a:solidFill>
              </a:rPr>
              <a:t>2</a:t>
            </a:r>
            <a:r>
              <a:rPr lang="en-US" i="1" dirty="0">
                <a:solidFill>
                  <a:schemeClr val="accent2"/>
                </a:solidFill>
              </a:rPr>
              <a:t> value implies a better fit.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32C30-632F-D9EC-4DE6-284A4B708286}"/>
              </a:ext>
            </a:extLst>
          </p:cNvPr>
          <p:cNvSpPr>
            <a:spLocks noGrp="1"/>
          </p:cNvSpPr>
          <p:nvPr>
            <p:ph type="title"/>
          </p:nvPr>
        </p:nvSpPr>
        <p:spPr/>
        <p:txBody>
          <a:bodyPr/>
          <a:lstStyle/>
          <a:p>
            <a:r>
              <a:rPr lang="en-US" dirty="0"/>
              <a:t>Overall significance of fit</a:t>
            </a:r>
            <a:endParaRPr lang="en-US" baseline="300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8FF0A52-F2AD-92E0-7715-BDB6F6296807}"/>
                  </a:ext>
                </a:extLst>
              </p:cNvPr>
              <p:cNvSpPr>
                <a:spLocks noGrp="1"/>
              </p:cNvSpPr>
              <p:nvPr>
                <p:ph type="body" idx="1"/>
              </p:nvPr>
            </p:nvSpPr>
            <p:spPr/>
            <p:txBody>
              <a:bodyPr>
                <a:normAutofit lnSpcReduction="10000"/>
              </a:bodyPr>
              <a:lstStyle/>
              <a:p>
                <a:r>
                  <a:rPr lang="en-US" sz="2200" dirty="0"/>
                  <a:t>What if you only had two values?</a:t>
                </a:r>
              </a:p>
              <a:p>
                <a:pPr lvl="1"/>
                <a:r>
                  <a:rPr lang="en-US" sz="2200" dirty="0"/>
                  <a:t>You can always fit a line through any two points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You can always get a 100% R</a:t>
                </a:r>
                <a:r>
                  <a:rPr lang="en-US" sz="2200" baseline="30000" dirty="0"/>
                  <a:t>2 </a:t>
                </a:r>
                <a:endParaRPr lang="en-US" sz="2200" dirty="0"/>
              </a:p>
              <a:p>
                <a:pPr lvl="1"/>
                <a:r>
                  <a:rPr lang="en-US" sz="2200" dirty="0"/>
                  <a:t>Doesn’t mean the model learnt anything.</a:t>
                </a:r>
              </a:p>
              <a:p>
                <a:r>
                  <a:rPr lang="en-US" sz="2200" dirty="0"/>
                  <a:t>Need a way to determine of the R</a:t>
                </a:r>
                <a:r>
                  <a:rPr lang="en-US" sz="2200" baseline="30000" dirty="0"/>
                  <a:t>2</a:t>
                </a:r>
                <a:r>
                  <a:rPr lang="en-US" sz="2200" dirty="0"/>
                  <a:t> value is statistically significant </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A hypothesis test using p-values!</a:t>
                </a:r>
              </a:p>
              <a:p>
                <a:pPr lvl="1"/>
                <a:r>
                  <a:rPr lang="en-US" sz="2200" dirty="0"/>
                  <a:t>Overall Test or </a:t>
                </a:r>
                <a:r>
                  <a:rPr lang="en-US" sz="2200" b="1" dirty="0">
                    <a:solidFill>
                      <a:schemeClr val="accent2"/>
                    </a:solidFill>
                  </a:rPr>
                  <a:t>F-test</a:t>
                </a:r>
                <a:r>
                  <a:rPr lang="en-US" sz="2200" dirty="0"/>
                  <a:t>: A test of slopes. </a:t>
                </a:r>
                <a:br>
                  <a:rPr lang="en-US" sz="2200" dirty="0"/>
                </a:br>
                <a:r>
                  <a:rPr lang="en-US" sz="2200" dirty="0"/>
                  <a:t>It compares hypothesized model to intercept-only model, whether predictions are better than always predicting the mean. For simple linear regression,</a:t>
                </a:r>
              </a:p>
              <a:p>
                <a:pPr lvl="2"/>
                <a:r>
                  <a:rPr lang="en-US" sz="2200" dirty="0"/>
                  <a:t>Null hypothesis </a:t>
                </a:r>
                <a14:m>
                  <m:oMath xmlns:m="http://schemas.openxmlformats.org/officeDocument/2006/math">
                    <m:sSub>
                      <m:sSubPr>
                        <m:ctrlPr>
                          <a:rPr lang="en-US" sz="2200" b="0" i="1" smtClean="0">
                            <a:solidFill>
                              <a:schemeClr val="accent2"/>
                            </a:solidFill>
                            <a:latin typeface="Cambria Math" panose="02040503050406030204" pitchFamily="18" charset="0"/>
                          </a:rPr>
                        </m:ctrlPr>
                      </m:sSubPr>
                      <m:e>
                        <m:r>
                          <a:rPr lang="en-US" sz="2200" b="0" i="1" smtClean="0">
                            <a:solidFill>
                              <a:schemeClr val="accent2"/>
                            </a:solidFill>
                            <a:latin typeface="Cambria Math" panose="02040503050406030204" pitchFamily="18" charset="0"/>
                          </a:rPr>
                          <m:t>𝐻</m:t>
                        </m:r>
                      </m:e>
                      <m:sub>
                        <m:r>
                          <a:rPr lang="en-US" sz="2200" b="0" i="1" smtClean="0">
                            <a:solidFill>
                              <a:schemeClr val="accent2"/>
                            </a:solidFill>
                            <a:latin typeface="Cambria Math" panose="02040503050406030204" pitchFamily="18" charset="0"/>
                          </a:rPr>
                          <m:t>0</m:t>
                        </m:r>
                      </m:sub>
                    </m:sSub>
                    <m:r>
                      <a:rPr lang="en-US" sz="2200" b="0" i="1" smtClean="0">
                        <a:solidFill>
                          <a:schemeClr val="accent2"/>
                        </a:solidFill>
                        <a:latin typeface="Cambria Math" panose="02040503050406030204" pitchFamily="18" charset="0"/>
                      </a:rPr>
                      <m:t>: </m:t>
                    </m:r>
                    <m:r>
                      <a:rPr lang="en-US" sz="2200" b="0" i="1" smtClean="0">
                        <a:solidFill>
                          <a:schemeClr val="accent2"/>
                        </a:solidFill>
                        <a:latin typeface="Cambria Math" panose="02040503050406030204" pitchFamily="18" charset="0"/>
                        <a:ea typeface="Cambria Math" panose="02040503050406030204" pitchFamily="18" charset="0"/>
                      </a:rPr>
                      <m:t>𝛽</m:t>
                    </m:r>
                    <m:r>
                      <a:rPr lang="en-US" sz="2200" b="0" i="1" smtClean="0">
                        <a:solidFill>
                          <a:schemeClr val="accent2"/>
                        </a:solidFill>
                        <a:latin typeface="Cambria Math" panose="02040503050406030204" pitchFamily="18" charset="0"/>
                        <a:ea typeface="Cambria Math" panose="02040503050406030204" pitchFamily="18" charset="0"/>
                      </a:rPr>
                      <m:t>=0</m:t>
                    </m:r>
                  </m:oMath>
                </a14:m>
                <a:endParaRPr lang="en-US" sz="2200" dirty="0">
                  <a:solidFill>
                    <a:schemeClr val="accent2"/>
                  </a:solidFill>
                </a:endParaRPr>
              </a:p>
              <a:p>
                <a:pPr lvl="2"/>
                <a:r>
                  <a:rPr lang="en-US" sz="2200" dirty="0"/>
                  <a:t>Alternative hypothesis </a:t>
                </a:r>
                <a14:m>
                  <m:oMath xmlns:m="http://schemas.openxmlformats.org/officeDocument/2006/math">
                    <m:sSub>
                      <m:sSubPr>
                        <m:ctrlPr>
                          <a:rPr lang="en-US" sz="2200" b="0" i="1" smtClean="0">
                            <a:solidFill>
                              <a:schemeClr val="accent2"/>
                            </a:solidFill>
                            <a:latin typeface="Cambria Math" panose="02040503050406030204" pitchFamily="18" charset="0"/>
                          </a:rPr>
                        </m:ctrlPr>
                      </m:sSubPr>
                      <m:e>
                        <m:r>
                          <a:rPr lang="en-US" sz="2200" b="0" i="1" smtClean="0">
                            <a:solidFill>
                              <a:schemeClr val="accent2"/>
                            </a:solidFill>
                            <a:latin typeface="Cambria Math" panose="02040503050406030204" pitchFamily="18" charset="0"/>
                          </a:rPr>
                          <m:t>𝐻</m:t>
                        </m:r>
                      </m:e>
                      <m:sub>
                        <m:r>
                          <a:rPr lang="en-US" sz="2200" b="0" i="1" smtClean="0">
                            <a:solidFill>
                              <a:schemeClr val="accent2"/>
                            </a:solidFill>
                            <a:latin typeface="Cambria Math" panose="02040503050406030204" pitchFamily="18" charset="0"/>
                          </a:rPr>
                          <m:t>𝐴</m:t>
                        </m:r>
                      </m:sub>
                    </m:sSub>
                    <m:r>
                      <a:rPr lang="en-US" sz="2200" b="0" i="1" smtClean="0">
                        <a:solidFill>
                          <a:schemeClr val="accent2"/>
                        </a:solidFill>
                        <a:latin typeface="Cambria Math" panose="02040503050406030204" pitchFamily="18" charset="0"/>
                      </a:rPr>
                      <m:t>: </m:t>
                    </m:r>
                    <m:r>
                      <a:rPr lang="en-US" sz="2200" b="0" i="1" smtClean="0">
                        <a:solidFill>
                          <a:schemeClr val="accent2"/>
                        </a:solidFill>
                        <a:latin typeface="Cambria Math" panose="02040503050406030204" pitchFamily="18" charset="0"/>
                        <a:ea typeface="Cambria Math" panose="02040503050406030204" pitchFamily="18" charset="0"/>
                      </a:rPr>
                      <m:t>𝛽</m:t>
                    </m:r>
                    <m:r>
                      <a:rPr lang="en-US" sz="2200" b="0" i="1" smtClean="0">
                        <a:solidFill>
                          <a:schemeClr val="accent2"/>
                        </a:solidFill>
                        <a:latin typeface="Cambria Math" panose="02040503050406030204" pitchFamily="18" charset="0"/>
                        <a:ea typeface="Cambria Math" panose="02040503050406030204" pitchFamily="18" charset="0"/>
                      </a:rPr>
                      <m:t>≠0</m:t>
                    </m:r>
                  </m:oMath>
                </a14:m>
                <a:endParaRPr lang="en-US" sz="2200" dirty="0"/>
              </a:p>
              <a:p>
                <a:pPr lvl="1"/>
                <a:r>
                  <a:rPr lang="en-US" sz="2200" dirty="0"/>
                  <a:t>For this test, we calculate the </a:t>
                </a:r>
                <a:r>
                  <a:rPr lang="en-US" sz="2200" b="1" dirty="0">
                    <a:solidFill>
                      <a:schemeClr val="accent2"/>
                    </a:solidFill>
                  </a:rPr>
                  <a:t>F-statistic</a:t>
                </a:r>
                <a:r>
                  <a:rPr lang="en-US" sz="2200" dirty="0"/>
                  <a:t> and then refer to </a:t>
                </a:r>
                <a:r>
                  <a:rPr lang="en-US" sz="2200" dirty="0">
                    <a:solidFill>
                      <a:schemeClr val="accent2"/>
                    </a:solidFill>
                  </a:rPr>
                  <a:t>the F-distribution</a:t>
                </a:r>
                <a:r>
                  <a:rPr lang="en-US" sz="2200" dirty="0"/>
                  <a:t>.</a:t>
                </a:r>
              </a:p>
              <a:p>
                <a:pPr lvl="2"/>
                <a:r>
                  <a:rPr lang="en-US" sz="2200" dirty="0"/>
                  <a:t>Instead of a single point estimate, we are interested in checking whether a set of coefficients (multiple linear regression) are all 0.</a:t>
                </a:r>
              </a:p>
              <a:p>
                <a:pPr lvl="2"/>
                <a:r>
                  <a:rPr lang="en-US" sz="2200" dirty="0">
                    <a:hlinkClick r:id="rId3"/>
                  </a:rPr>
                  <a:t>F distribution table</a:t>
                </a:r>
                <a:endParaRPr lang="en-US" sz="2200" dirty="0"/>
              </a:p>
            </p:txBody>
          </p:sp>
        </mc:Choice>
        <mc:Fallback xmlns="">
          <p:sp>
            <p:nvSpPr>
              <p:cNvPr id="3" name="Text Placeholder 2">
                <a:extLst>
                  <a:ext uri="{FF2B5EF4-FFF2-40B4-BE49-F238E27FC236}">
                    <a16:creationId xmlns:a16="http://schemas.microsoft.com/office/drawing/2014/main" id="{18FF0A52-F2AD-92E0-7715-BDB6F6296807}"/>
                  </a:ext>
                </a:extLst>
              </p:cNvPr>
              <p:cNvSpPr>
                <a:spLocks noGrp="1" noRot="1" noChangeAspect="1" noMove="1" noResize="1" noEditPoints="1" noAdjustHandles="1" noChangeArrowheads="1" noChangeShapeType="1" noTextEdit="1"/>
              </p:cNvSpPr>
              <p:nvPr>
                <p:ph type="body" idx="1"/>
              </p:nvPr>
            </p:nvSpPr>
            <p:spPr>
              <a:blipFill>
                <a:blip r:embed="rId4"/>
                <a:stretch>
                  <a:fillRect t="-1575"/>
                </a:stretch>
              </a:blipFill>
            </p:spPr>
            <p:txBody>
              <a:bodyPr/>
              <a:lstStyle/>
              <a:p>
                <a:r>
                  <a:rPr lang="en-US">
                    <a:noFill/>
                  </a:rPr>
                  <a:t> </a:t>
                </a:r>
              </a:p>
            </p:txBody>
          </p:sp>
        </mc:Fallback>
      </mc:AlternateContent>
    </p:spTree>
    <p:extLst>
      <p:ext uri="{BB962C8B-B14F-4D97-AF65-F5344CB8AC3E}">
        <p14:creationId xmlns:p14="http://schemas.microsoft.com/office/powerpoint/2010/main" val="39236311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67200" y="430306"/>
            <a:ext cx="11360800" cy="723445"/>
          </a:xfrm>
          <a:prstGeom prst="rect">
            <a:avLst/>
          </a:prstGeom>
        </p:spPr>
        <p:txBody>
          <a:bodyPr spcFirstLastPara="1" vert="horz" wrap="square" lIns="121900" tIns="121900" rIns="121900" bIns="121900" rtlCol="0" anchor="t" anchorCtr="0">
            <a:normAutofit fontScale="90000"/>
          </a:bodyPr>
          <a:lstStyle/>
          <a:p>
            <a:r>
              <a:rPr lang="en" dirty="0"/>
              <a:t>Statistical Significance of Fit</a:t>
            </a:r>
            <a:endParaRPr dirty="0"/>
          </a:p>
        </p:txBody>
      </p:sp>
      <p:sp>
        <p:nvSpPr>
          <p:cNvPr id="201" name="Google Shape;201;p27"/>
          <p:cNvSpPr txBox="1">
            <a:spLocks noGrp="1"/>
          </p:cNvSpPr>
          <p:nvPr>
            <p:ph type="body" idx="1"/>
          </p:nvPr>
        </p:nvSpPr>
        <p:spPr>
          <a:xfrm>
            <a:off x="467200" y="1167600"/>
            <a:ext cx="5287709" cy="723444"/>
          </a:xfrm>
          <a:prstGeom prst="rect">
            <a:avLst/>
          </a:prstGeom>
        </p:spPr>
        <p:txBody>
          <a:bodyPr spcFirstLastPara="1" vert="horz" wrap="square" lIns="121900" tIns="121900" rIns="121900" bIns="121900" rtlCol="0" anchor="t" anchorCtr="0">
            <a:normAutofit fontScale="40000" lnSpcReduction="20000"/>
          </a:bodyPr>
          <a:lstStyle/>
          <a:p>
            <a:pPr marL="0" indent="0">
              <a:spcBef>
                <a:spcPts val="1600"/>
              </a:spcBef>
              <a:buNone/>
            </a:pPr>
            <a:r>
              <a:rPr lang="en" sz="5500" dirty="0"/>
              <a:t>General equation to check if R</a:t>
            </a:r>
            <a:r>
              <a:rPr lang="en" sz="5500" baseline="30000" dirty="0"/>
              <a:t>2</a:t>
            </a:r>
            <a:r>
              <a:rPr lang="en" sz="5500" dirty="0"/>
              <a:t> is significant</a:t>
            </a:r>
            <a:endParaRPr sz="5500" dirty="0">
              <a:solidFill>
                <a:srgbClr val="000000"/>
              </a:solidFill>
            </a:endParaRPr>
          </a:p>
        </p:txBody>
      </p:sp>
      <p:pic>
        <p:nvPicPr>
          <p:cNvPr id="203" name="Google Shape;203;p27"/>
          <p:cNvPicPr preferRelativeResize="0"/>
          <p:nvPr/>
        </p:nvPicPr>
        <p:blipFill>
          <a:blip r:embed="rId3">
            <a:alphaModFix/>
          </a:blip>
          <a:stretch>
            <a:fillRect/>
          </a:stretch>
        </p:blipFill>
        <p:spPr>
          <a:xfrm>
            <a:off x="5927135" y="1271854"/>
            <a:ext cx="5797665" cy="615600"/>
          </a:xfrm>
          <a:prstGeom prst="rect">
            <a:avLst/>
          </a:prstGeom>
          <a:noFill/>
          <a:ln>
            <a:noFill/>
          </a:ln>
        </p:spPr>
      </p:pic>
      <p:pic>
        <p:nvPicPr>
          <p:cNvPr id="204" name="Google Shape;204;p27"/>
          <p:cNvPicPr preferRelativeResize="0"/>
          <p:nvPr/>
        </p:nvPicPr>
        <p:blipFill>
          <a:blip r:embed="rId4">
            <a:alphaModFix/>
          </a:blip>
          <a:stretch>
            <a:fillRect/>
          </a:stretch>
        </p:blipFill>
        <p:spPr>
          <a:xfrm>
            <a:off x="562933" y="1997135"/>
            <a:ext cx="4930333" cy="979533"/>
          </a:xfrm>
          <a:prstGeom prst="rect">
            <a:avLst/>
          </a:prstGeom>
          <a:noFill/>
          <a:ln>
            <a:noFill/>
          </a:ln>
        </p:spPr>
      </p:pic>
      <p:sp>
        <p:nvSpPr>
          <p:cNvPr id="205" name="Google Shape;205;p27"/>
          <p:cNvSpPr txBox="1"/>
          <p:nvPr/>
        </p:nvSpPr>
        <p:spPr>
          <a:xfrm>
            <a:off x="5754909" y="2086811"/>
            <a:ext cx="5874158" cy="800179"/>
          </a:xfrm>
          <a:prstGeom prst="rect">
            <a:avLst/>
          </a:prstGeom>
          <a:noFill/>
          <a:ln>
            <a:noFill/>
          </a:ln>
        </p:spPr>
        <p:txBody>
          <a:bodyPr spcFirstLastPara="1" wrap="square" lIns="121900" tIns="121900" rIns="121900" bIns="121900" anchor="t" anchorCtr="0">
            <a:spAutoFit/>
          </a:bodyPr>
          <a:lstStyle/>
          <a:p>
            <a:pPr marL="285750" indent="-285750">
              <a:buFont typeface="Arial" panose="020B0604020202020204" pitchFamily="34" charset="0"/>
              <a:buChar char="•"/>
            </a:pPr>
            <a:r>
              <a:rPr lang="en" dirty="0" err="1"/>
              <a:t>p</a:t>
            </a:r>
            <a:r>
              <a:rPr lang="en" baseline="-25000" dirty="0" err="1"/>
              <a:t>mean</a:t>
            </a:r>
            <a:r>
              <a:rPr lang="en" dirty="0"/>
              <a:t> : number of parameters in the mean line; </a:t>
            </a:r>
            <a:r>
              <a:rPr lang="en" i="1" dirty="0">
                <a:solidFill>
                  <a:schemeClr val="accent2"/>
                </a:solidFill>
              </a:rPr>
              <a:t>1 for SLR</a:t>
            </a:r>
            <a:endParaRPr i="1" dirty="0">
              <a:solidFill>
                <a:schemeClr val="accent2"/>
              </a:solidFill>
            </a:endParaRPr>
          </a:p>
          <a:p>
            <a:pPr marL="285750" indent="-285750">
              <a:buFont typeface="Arial" panose="020B0604020202020204" pitchFamily="34" charset="0"/>
              <a:buChar char="•"/>
            </a:pPr>
            <a:r>
              <a:rPr lang="en" dirty="0" err="1"/>
              <a:t>p</a:t>
            </a:r>
            <a:r>
              <a:rPr lang="en" baseline="-25000" dirty="0" err="1"/>
              <a:t>fit</a:t>
            </a:r>
            <a:r>
              <a:rPr lang="en" dirty="0"/>
              <a:t> : number of parameters in </a:t>
            </a:r>
            <a:r>
              <a:rPr lang="en"/>
              <a:t>the best fit </a:t>
            </a:r>
            <a:r>
              <a:rPr lang="en" dirty="0"/>
              <a:t>line; </a:t>
            </a:r>
            <a:r>
              <a:rPr lang="en" i="1" dirty="0">
                <a:solidFill>
                  <a:schemeClr val="accent2"/>
                </a:solidFill>
              </a:rPr>
              <a:t>2 for SLR</a:t>
            </a:r>
            <a:endParaRPr i="1" baseline="-25000" dirty="0">
              <a:solidFill>
                <a:schemeClr val="accent2"/>
              </a:solidFill>
            </a:endParaRPr>
          </a:p>
        </p:txBody>
      </p:sp>
      <mc:AlternateContent xmlns:mc="http://schemas.openxmlformats.org/markup-compatibility/2006" xmlns:a14="http://schemas.microsoft.com/office/drawing/2010/main">
        <mc:Choice Requires="a14">
          <p:sp>
            <p:nvSpPr>
              <p:cNvPr id="206" name="Google Shape;206;p27"/>
              <p:cNvSpPr txBox="1"/>
              <p:nvPr/>
            </p:nvSpPr>
            <p:spPr>
              <a:xfrm>
                <a:off x="5493267" y="3017975"/>
                <a:ext cx="6231534" cy="984845"/>
              </a:xfrm>
              <a:prstGeom prst="rect">
                <a:avLst/>
              </a:prstGeom>
              <a:noFill/>
              <a:ln>
                <a:noFill/>
              </a:ln>
            </p:spPr>
            <p:txBody>
              <a:bodyPr spcFirstLastPara="1" wrap="square" lIns="121900" tIns="121900" rIns="121900" bIns="121900" anchor="t" anchorCtr="0">
                <a:spAutoFit/>
              </a:bodyPr>
              <a:lstStyle/>
              <a:p>
                <a:r>
                  <a:rPr lang="en" sz="1600" dirty="0"/>
                  <a:t>More parameters you have in your equation the more data points you need to estimate your fit </a:t>
                </a:r>
                <a14:m>
                  <m:oMath xmlns:m="http://schemas.openxmlformats.org/officeDocument/2006/math">
                    <m:r>
                      <a:rPr lang="en" sz="1600" i="1" smtClean="0">
                        <a:latin typeface="Cambria Math" panose="02040503050406030204" pitchFamily="18" charset="0"/>
                        <a:ea typeface="Cambria Math" panose="02040503050406030204" pitchFamily="18" charset="0"/>
                      </a:rPr>
                      <m:t>→</m:t>
                    </m:r>
                  </m:oMath>
                </a14:m>
                <a:r>
                  <a:rPr lang="en-US" sz="1600" dirty="0"/>
                  <a:t> less residual degrees of freedom.</a:t>
                </a:r>
                <a:br>
                  <a:rPr lang="en-US" sz="1600" dirty="0"/>
                </a:br>
                <a:r>
                  <a:rPr lang="en-US" sz="1600" b="1" dirty="0">
                    <a:solidFill>
                      <a:schemeClr val="accent2"/>
                    </a:solidFill>
                  </a:rPr>
                  <a:t>Basel’s Correction for </a:t>
                </a:r>
                <a:r>
                  <a:rPr lang="en-US" sz="1600" b="1">
                    <a:solidFill>
                      <a:schemeClr val="accent2"/>
                    </a:solidFill>
                  </a:rPr>
                  <a:t>unbiased estimate.</a:t>
                </a:r>
                <a:endParaRPr sz="1600" b="1" dirty="0">
                  <a:solidFill>
                    <a:schemeClr val="accent2"/>
                  </a:solidFill>
                </a:endParaRPr>
              </a:p>
            </p:txBody>
          </p:sp>
        </mc:Choice>
        <mc:Fallback xmlns="">
          <p:sp>
            <p:nvSpPr>
              <p:cNvPr id="206" name="Google Shape;206;p27"/>
              <p:cNvSpPr txBox="1">
                <a:spLocks noRot="1" noChangeAspect="1" noMove="1" noResize="1" noEditPoints="1" noAdjustHandles="1" noChangeArrowheads="1" noChangeShapeType="1" noTextEdit="1"/>
              </p:cNvSpPr>
              <p:nvPr/>
            </p:nvSpPr>
            <p:spPr>
              <a:xfrm>
                <a:off x="5493267" y="3017975"/>
                <a:ext cx="6231534" cy="984845"/>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Google Shape;207;p27"/>
              <p:cNvSpPr txBox="1"/>
              <p:nvPr/>
            </p:nvSpPr>
            <p:spPr>
              <a:xfrm>
                <a:off x="5477889" y="3837055"/>
                <a:ext cx="6334734" cy="2522830"/>
              </a:xfrm>
              <a:prstGeom prst="rect">
                <a:avLst/>
              </a:prstGeom>
              <a:noFill/>
              <a:ln>
                <a:noFill/>
              </a:ln>
            </p:spPr>
            <p:txBody>
              <a:bodyPr spcFirstLastPara="1" wrap="square" lIns="121900" tIns="121900" rIns="121900" bIns="121900" anchor="t" anchorCtr="0">
                <a:spAutoFit/>
              </a:bodyPr>
              <a:lstStyle/>
              <a:p>
                <a:pPr marL="609585" indent="-423323">
                  <a:buSzPts val="1400"/>
                  <a:buChar char="●"/>
                </a:pPr>
                <a:r>
                  <a:rPr lang="en-US" sz="1600" dirty="0"/>
                  <a:t>Get the estimate of F for a fit on original data: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𝑜𝑏𝑠</m:t>
                        </m:r>
                      </m:sub>
                    </m:sSub>
                  </m:oMath>
                </a14:m>
                <a:endParaRPr lang="en-US" sz="1600" dirty="0"/>
              </a:p>
              <a:p>
                <a:pPr marL="609585" indent="-423323">
                  <a:buSzPts val="1400"/>
                  <a:buChar char="●"/>
                </a:pPr>
                <a:r>
                  <a:rPr lang="en-US" sz="1600" dirty="0"/>
                  <a:t>Refer to the sampling distribution, F distribution.</a:t>
                </a:r>
              </a:p>
              <a:p>
                <a:pPr marL="1066785" lvl="1" indent="-423323">
                  <a:buSzPts val="1400"/>
                  <a:buChar char="●"/>
                </a:pPr>
                <a:r>
                  <a:rPr lang="en-US" sz="1600" dirty="0">
                    <a:solidFill>
                      <a:schemeClr val="accent2"/>
                    </a:solidFill>
                  </a:rPr>
                  <a:t>Strictly positive</a:t>
                </a:r>
                <a:r>
                  <a:rPr lang="en-US" sz="1600" dirty="0"/>
                  <a:t> and </a:t>
                </a:r>
                <a:r>
                  <a:rPr lang="en-US" sz="1600" dirty="0">
                    <a:solidFill>
                      <a:schemeClr val="accent2"/>
                    </a:solidFill>
                  </a:rPr>
                  <a:t>right skewed</a:t>
                </a:r>
              </a:p>
              <a:p>
                <a:pPr marL="1066785" lvl="1" indent="-423323">
                  <a:buSzPts val="1400"/>
                  <a:buChar char="●"/>
                </a:pPr>
                <a:r>
                  <a:rPr lang="en-US" sz="1600" dirty="0"/>
                  <a:t>The F-test is always a one-tailed (right-tailed) test.</a:t>
                </a:r>
              </a:p>
              <a:p>
                <a:pPr marL="609585" indent="-423323">
                  <a:buSzPts val="1400"/>
                  <a:buChar char="●"/>
                </a:pPr>
                <a:r>
                  <a:rPr lang="en-US" sz="1600" dirty="0"/>
                  <a:t>Two degrees of freedom</a:t>
                </a:r>
              </a:p>
              <a:p>
                <a:pPr marL="1066785" lvl="1" indent="-423323">
                  <a:buSzPts val="1400"/>
                  <a:buChar char="●"/>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1</m:t>
                        </m:r>
                      </m:sub>
                    </m:sSub>
                    <m:r>
                      <a:rPr lang="ar-AE" sz="1600" b="0" i="1" smtClean="0">
                        <a:latin typeface="Cambria Math" panose="02040503050406030204" pitchFamily="18" charset="0"/>
                      </a:rPr>
                      <m:t>=</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𝑓𝑖𝑡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𝑚𝑒𝑎𝑛</m:t>
                        </m:r>
                      </m:sub>
                    </m:sSub>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0" i="1" smtClean="0">
                        <a:latin typeface="Cambria Math" panose="02040503050406030204" pitchFamily="18" charset="0"/>
                      </a:rPr>
                      <m:t>𝑓𝑒𝑎𝑡𝑢𝑟𝑒𝑠</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oMath>
                </a14:m>
                <a:r>
                  <a:rPr lang="en-US" sz="1600" dirty="0"/>
                  <a:t> </a:t>
                </a:r>
              </a:p>
              <a:p>
                <a:pPr marL="1066785" lvl="1" indent="-423323">
                  <a:buSzPts val="1400"/>
                  <a:buChar char="●"/>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𝑓𝑖𝑡</m:t>
                        </m:r>
                      </m:sub>
                    </m:sSub>
                    <m:r>
                      <a:rPr lang="en-US" sz="1600" b="0" i="1" smtClean="0">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−1</m:t>
                    </m:r>
                  </m:oMath>
                </a14:m>
                <a:endParaRPr lang="en-US" sz="1600" dirty="0"/>
              </a:p>
              <a:p>
                <a:pPr marL="609585" indent="-423323">
                  <a:buSzPts val="1400"/>
                  <a:buChar char="●"/>
                </a:pPr>
                <a:r>
                  <a:rPr lang="en-US" sz="1600" dirty="0"/>
                  <a:t>The estimated F statistic must be </a:t>
                </a:r>
                <a:r>
                  <a:rPr lang="en-US" sz="1600" i="1" dirty="0">
                    <a:solidFill>
                      <a:schemeClr val="accent2"/>
                    </a:solidFill>
                  </a:rPr>
                  <a:t>greater than</a:t>
                </a:r>
                <a:r>
                  <a:rPr lang="en-US" sz="1600" dirty="0"/>
                  <a:t> the critical value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2</m:t>
                            </m:r>
                          </m:sub>
                        </m:sSub>
                      </m:sub>
                    </m:sSub>
                  </m:oMath>
                </a14:m>
                <a:r>
                  <a:rPr lang="en-US" sz="1600" dirty="0"/>
                  <a:t> for statistical significance at expected significance level </a:t>
                </a:r>
                <a14:m>
                  <m:oMath xmlns:m="http://schemas.openxmlformats.org/officeDocument/2006/math">
                    <m:r>
                      <a:rPr lang="en-US" sz="1600" i="1" smtClean="0">
                        <a:latin typeface="Cambria Math" panose="02040503050406030204" pitchFamily="18" charset="0"/>
                        <a:ea typeface="Cambria Math" panose="02040503050406030204" pitchFamily="18" charset="0"/>
                      </a:rPr>
                      <m:t>𝛼</m:t>
                    </m:r>
                  </m:oMath>
                </a14:m>
                <a:r>
                  <a:rPr lang="en-US" sz="1600" dirty="0"/>
                  <a:t>.</a:t>
                </a:r>
                <a:endParaRPr sz="1600" dirty="0"/>
              </a:p>
            </p:txBody>
          </p:sp>
        </mc:Choice>
        <mc:Fallback xmlns="">
          <p:sp>
            <p:nvSpPr>
              <p:cNvPr id="207" name="Google Shape;207;p27"/>
              <p:cNvSpPr txBox="1">
                <a:spLocks noRot="1" noChangeAspect="1" noMove="1" noResize="1" noEditPoints="1" noAdjustHandles="1" noChangeArrowheads="1" noChangeShapeType="1" noTextEdit="1"/>
              </p:cNvSpPr>
              <p:nvPr/>
            </p:nvSpPr>
            <p:spPr>
              <a:xfrm>
                <a:off x="5477889" y="3837055"/>
                <a:ext cx="6334734" cy="2522830"/>
              </a:xfrm>
              <a:prstGeom prst="rect">
                <a:avLst/>
              </a:prstGeom>
              <a:blipFill>
                <a:blip r:embed="rId6"/>
                <a:stretch>
                  <a:fillRect/>
                </a:stretch>
              </a:blipFill>
              <a:ln>
                <a:noFill/>
              </a:ln>
            </p:spPr>
            <p:txBody>
              <a:bodyPr/>
              <a:lstStyle/>
              <a:p>
                <a:r>
                  <a:rPr lang="en-US">
                    <a:noFill/>
                  </a:rPr>
                  <a:t> </a:t>
                </a:r>
              </a:p>
            </p:txBody>
          </p:sp>
        </mc:Fallback>
      </mc:AlternateContent>
      <p:sp>
        <p:nvSpPr>
          <p:cNvPr id="208" name="Google Shape;208;p27"/>
          <p:cNvSpPr txBox="1"/>
          <p:nvPr/>
        </p:nvSpPr>
        <p:spPr>
          <a:xfrm>
            <a:off x="616214" y="4379053"/>
            <a:ext cx="4609428" cy="876097"/>
          </a:xfrm>
          <a:prstGeom prst="rect">
            <a:avLst/>
          </a:prstGeom>
          <a:noFill/>
          <a:ln>
            <a:noFill/>
          </a:ln>
        </p:spPr>
        <p:txBody>
          <a:bodyPr spcFirstLastPara="1" wrap="square" lIns="121900" tIns="121900" rIns="121900" bIns="121900" anchor="t" anchorCtr="0">
            <a:spAutoFit/>
          </a:bodyPr>
          <a:lstStyle/>
          <a:p>
            <a:pPr>
              <a:lnSpc>
                <a:spcPct val="115000"/>
              </a:lnSpc>
              <a:spcAft>
                <a:spcPts val="1600"/>
              </a:spcAft>
              <a:buClr>
                <a:schemeClr val="dk1"/>
              </a:buClr>
              <a:buSzPts val="1100"/>
            </a:pPr>
            <a:r>
              <a:rPr lang="en" sz="2400" dirty="0">
                <a:solidFill>
                  <a:schemeClr val="dk1"/>
                </a:solidFill>
              </a:rPr>
              <a:t>Is this F statistically significant?</a:t>
            </a:r>
            <a:endParaRPr sz="2400" dirty="0"/>
          </a:p>
        </p:txBody>
      </p:sp>
      <p:sp>
        <p:nvSpPr>
          <p:cNvPr id="209" name="Google Shape;209;p27"/>
          <p:cNvSpPr txBox="1"/>
          <p:nvPr/>
        </p:nvSpPr>
        <p:spPr>
          <a:xfrm>
            <a:off x="561662" y="5067994"/>
            <a:ext cx="4861675" cy="876097"/>
          </a:xfrm>
          <a:prstGeom prst="rect">
            <a:avLst/>
          </a:prstGeom>
          <a:noFill/>
          <a:ln>
            <a:noFill/>
          </a:ln>
        </p:spPr>
        <p:txBody>
          <a:bodyPr spcFirstLastPara="1" wrap="square" lIns="121900" tIns="121900" rIns="121900" bIns="121900" anchor="t" anchorCtr="0">
            <a:spAutoFit/>
          </a:bodyPr>
          <a:lstStyle/>
          <a:p>
            <a:pPr>
              <a:lnSpc>
                <a:spcPct val="115000"/>
              </a:lnSpc>
              <a:spcAft>
                <a:spcPts val="1600"/>
              </a:spcAft>
              <a:buClr>
                <a:schemeClr val="dk1"/>
              </a:buClr>
              <a:buSzPts val="1100"/>
            </a:pPr>
            <a:r>
              <a:rPr lang="en" sz="2400" b="1" dirty="0">
                <a:solidFill>
                  <a:schemeClr val="accent2"/>
                </a:solidFill>
              </a:rPr>
              <a:t>A good fit generates a high F value!</a:t>
            </a:r>
            <a:endParaRPr sz="2400" dirty="0">
              <a:solidFill>
                <a:schemeClr val="accent2"/>
              </a:solidFill>
            </a:endParaRPr>
          </a:p>
        </p:txBody>
      </p:sp>
      <p:sp>
        <p:nvSpPr>
          <p:cNvPr id="210" name="Google Shape;210;p27"/>
          <p:cNvSpPr/>
          <p:nvPr/>
        </p:nvSpPr>
        <p:spPr>
          <a:xfrm>
            <a:off x="1168712" y="2033990"/>
            <a:ext cx="2553600" cy="3372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1" name="Google Shape;211;p27"/>
          <p:cNvSpPr/>
          <p:nvPr/>
        </p:nvSpPr>
        <p:spPr>
          <a:xfrm>
            <a:off x="3874189" y="2016615"/>
            <a:ext cx="1467200" cy="4308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2" name="Google Shape;212;p27"/>
          <p:cNvSpPr/>
          <p:nvPr/>
        </p:nvSpPr>
        <p:spPr>
          <a:xfrm>
            <a:off x="1990033" y="2523639"/>
            <a:ext cx="2553600" cy="4308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TextBox 1">
            <a:extLst>
              <a:ext uri="{FF2B5EF4-FFF2-40B4-BE49-F238E27FC236}">
                <a16:creationId xmlns:a16="http://schemas.microsoft.com/office/drawing/2014/main" id="{2AC8DCDE-E59A-3856-6787-E61294CA3DCF}"/>
              </a:ext>
            </a:extLst>
          </p:cNvPr>
          <p:cNvSpPr txBox="1"/>
          <p:nvPr/>
        </p:nvSpPr>
        <p:spPr>
          <a:xfrm>
            <a:off x="562933" y="3296277"/>
            <a:ext cx="4352730" cy="369332"/>
          </a:xfrm>
          <a:prstGeom prst="rect">
            <a:avLst/>
          </a:prstGeom>
          <a:noFill/>
        </p:spPr>
        <p:txBody>
          <a:bodyPr wrap="none" rtlCol="0">
            <a:spAutoFit/>
          </a:bodyPr>
          <a:lstStyle/>
          <a:p>
            <a:pPr marL="0" indent="0">
              <a:spcBef>
                <a:spcPts val="1600"/>
              </a:spcBef>
              <a:buNone/>
            </a:pPr>
            <a:r>
              <a:rPr lang="en-US" sz="1800" b="1" i="1" dirty="0"/>
              <a:t>Why divide SS(fit) by n-</a:t>
            </a:r>
            <a:r>
              <a:rPr lang="en-US" sz="1800" b="1" i="1" dirty="0" err="1"/>
              <a:t>p</a:t>
            </a:r>
            <a:r>
              <a:rPr lang="en-US" sz="1800" b="1" i="1" baseline="-25000" dirty="0" err="1"/>
              <a:t>fit</a:t>
            </a:r>
            <a:r>
              <a:rPr lang="en-US" sz="1800" b="1" i="1" dirty="0"/>
              <a:t> instead of just n?</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1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p:bldP spid="207" grpId="0"/>
      <p:bldP spid="208" grpId="0"/>
      <p:bldP spid="209"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FDA46-9468-21EA-AAE4-6FAEBA4088E7}"/>
              </a:ext>
            </a:extLst>
          </p:cNvPr>
          <p:cNvSpPr>
            <a:spLocks noGrp="1"/>
          </p:cNvSpPr>
          <p:nvPr>
            <p:ph type="title"/>
          </p:nvPr>
        </p:nvSpPr>
        <p:spPr/>
        <p:txBody>
          <a:bodyPr/>
          <a:lstStyle/>
          <a:p>
            <a:r>
              <a:rPr lang="en-US" dirty="0"/>
              <a:t>Your turn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99815A8-2881-0566-550A-9B74821C23A2}"/>
                  </a:ext>
                </a:extLst>
              </p:cNvPr>
              <p:cNvSpPr>
                <a:spLocks noGrp="1"/>
              </p:cNvSpPr>
              <p:nvPr>
                <p:ph type="body" idx="1"/>
              </p:nvPr>
            </p:nvSpPr>
            <p:spPr>
              <a:xfrm>
                <a:off x="609600" y="1295400"/>
                <a:ext cx="10972800" cy="2133600"/>
              </a:xfrm>
            </p:spPr>
            <p:txBody>
              <a:bodyPr>
                <a:normAutofit/>
              </a:bodyPr>
              <a:lstStyle/>
              <a:p>
                <a:pPr marL="101598" indent="0">
                  <a:buNone/>
                </a:pPr>
                <a:r>
                  <a:rPr lang="en-US" sz="2200" dirty="0"/>
                  <a:t>1. Two regression models are fitted to two different datasets. In both cases, the fitted model has the same residual sum of squares: </a:t>
                </a:r>
                <a14:m>
                  <m:oMath xmlns:m="http://schemas.openxmlformats.org/officeDocument/2006/math">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𝑓𝑖𝑡</m:t>
                        </m:r>
                      </m:e>
                    </m:d>
                    <m:r>
                      <a:rPr lang="en-US" sz="2200" b="0" i="1" smtClean="0">
                        <a:latin typeface="Cambria Math" panose="02040503050406030204" pitchFamily="18" charset="0"/>
                      </a:rPr>
                      <m:t>=100</m:t>
                    </m:r>
                  </m:oMath>
                </a14:m>
                <a:r>
                  <a:rPr lang="en-US" sz="2200" dirty="0"/>
                  <a:t>.</a:t>
                </a:r>
              </a:p>
              <a:p>
                <a:pPr marL="101598" indent="0">
                  <a:buNone/>
                </a:pPr>
                <a:r>
                  <a:rPr lang="en-US" sz="2200" dirty="0"/>
                  <a:t>Which fitted model provides a better fit relative to simply predicting the mean?</a:t>
                </a:r>
              </a:p>
            </p:txBody>
          </p:sp>
        </mc:Choice>
        <mc:Fallback xmlns="">
          <p:sp>
            <p:nvSpPr>
              <p:cNvPr id="3" name="Text Placeholder 2">
                <a:extLst>
                  <a:ext uri="{FF2B5EF4-FFF2-40B4-BE49-F238E27FC236}">
                    <a16:creationId xmlns:a16="http://schemas.microsoft.com/office/drawing/2014/main" id="{999815A8-2881-0566-550A-9B74821C23A2}"/>
                  </a:ext>
                </a:extLst>
              </p:cNvPr>
              <p:cNvSpPr>
                <a:spLocks noGrp="1" noRot="1" noChangeAspect="1" noMove="1" noResize="1" noEditPoints="1" noAdjustHandles="1" noChangeArrowheads="1" noChangeShapeType="1" noTextEdit="1"/>
              </p:cNvSpPr>
              <p:nvPr>
                <p:ph type="body" idx="1"/>
              </p:nvPr>
            </p:nvSpPr>
            <p:spPr>
              <a:xfrm>
                <a:off x="609600" y="1295400"/>
                <a:ext cx="10972800" cy="2133600"/>
              </a:xfrm>
              <a:blipFill>
                <a:blip r:embed="rId2"/>
                <a:stretch>
                  <a:fillRect t="-1775"/>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B0CE9666-AF70-934B-BC1A-9BCCCBF04D38}"/>
              </a:ext>
            </a:extLst>
          </p:cNvPr>
          <p:cNvGraphicFramePr>
            <a:graphicFrameLocks noGrp="1"/>
          </p:cNvGraphicFramePr>
          <p:nvPr>
            <p:extLst>
              <p:ext uri="{D42A27DB-BD31-4B8C-83A1-F6EECF244321}">
                <p14:modId xmlns:p14="http://schemas.microsoft.com/office/powerpoint/2010/main" val="249379222"/>
              </p:ext>
            </p:extLst>
          </p:nvPr>
        </p:nvGraphicFramePr>
        <p:xfrm>
          <a:off x="2032000" y="2316480"/>
          <a:ext cx="8127999" cy="1112520"/>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4261959620"/>
                    </a:ext>
                  </a:extLst>
                </a:gridCol>
                <a:gridCol w="2709333">
                  <a:extLst>
                    <a:ext uri="{9D8B030D-6E8A-4147-A177-3AD203B41FA5}">
                      <a16:colId xmlns:a16="http://schemas.microsoft.com/office/drawing/2014/main" val="287322778"/>
                    </a:ext>
                  </a:extLst>
                </a:gridCol>
                <a:gridCol w="2709333">
                  <a:extLst>
                    <a:ext uri="{9D8B030D-6E8A-4147-A177-3AD203B41FA5}">
                      <a16:colId xmlns:a16="http://schemas.microsoft.com/office/drawing/2014/main" val="506637658"/>
                    </a:ext>
                  </a:extLst>
                </a:gridCol>
              </a:tblGrid>
              <a:tr h="370840">
                <a:tc>
                  <a:txBody>
                    <a:bodyPr/>
                    <a:lstStyle/>
                    <a:p>
                      <a:endParaRPr lang="en-US" dirty="0"/>
                    </a:p>
                  </a:txBody>
                  <a:tcPr/>
                </a:tc>
                <a:tc>
                  <a:txBody>
                    <a:bodyPr/>
                    <a:lstStyle/>
                    <a:p>
                      <a:r>
                        <a:rPr lang="en-US" dirty="0"/>
                        <a:t>SS(mean)</a:t>
                      </a:r>
                    </a:p>
                  </a:txBody>
                  <a:tcPr/>
                </a:tc>
                <a:tc>
                  <a:txBody>
                    <a:bodyPr/>
                    <a:lstStyle/>
                    <a:p>
                      <a:r>
                        <a:rPr lang="en-US" dirty="0"/>
                        <a:t>SS(fit)</a:t>
                      </a:r>
                    </a:p>
                  </a:txBody>
                  <a:tcPr/>
                </a:tc>
                <a:extLst>
                  <a:ext uri="{0D108BD9-81ED-4DB2-BD59-A6C34878D82A}">
                    <a16:rowId xmlns:a16="http://schemas.microsoft.com/office/drawing/2014/main" val="884797861"/>
                  </a:ext>
                </a:extLst>
              </a:tr>
              <a:tr h="370840">
                <a:tc>
                  <a:txBody>
                    <a:bodyPr/>
                    <a:lstStyle/>
                    <a:p>
                      <a:r>
                        <a:rPr lang="en-US" dirty="0"/>
                        <a:t>Dataset A</a:t>
                      </a:r>
                    </a:p>
                  </a:txBody>
                  <a:tcPr/>
                </a:tc>
                <a:tc>
                  <a:txBody>
                    <a:bodyPr/>
                    <a:lstStyle/>
                    <a:p>
                      <a:r>
                        <a:rPr lang="en-US" dirty="0"/>
                        <a:t>125</a:t>
                      </a:r>
                    </a:p>
                  </a:txBody>
                  <a:tcPr/>
                </a:tc>
                <a:tc>
                  <a:txBody>
                    <a:bodyPr/>
                    <a:lstStyle/>
                    <a:p>
                      <a:r>
                        <a:rPr lang="en-US" dirty="0"/>
                        <a:t>100</a:t>
                      </a:r>
                    </a:p>
                  </a:txBody>
                  <a:tcPr/>
                </a:tc>
                <a:extLst>
                  <a:ext uri="{0D108BD9-81ED-4DB2-BD59-A6C34878D82A}">
                    <a16:rowId xmlns:a16="http://schemas.microsoft.com/office/drawing/2014/main" val="2509608630"/>
                  </a:ext>
                </a:extLst>
              </a:tr>
              <a:tr h="370840">
                <a:tc>
                  <a:txBody>
                    <a:bodyPr/>
                    <a:lstStyle/>
                    <a:p>
                      <a:r>
                        <a:rPr lang="en-US" dirty="0"/>
                        <a:t>Dataset B</a:t>
                      </a:r>
                    </a:p>
                  </a:txBody>
                  <a:tcPr/>
                </a:tc>
                <a:tc>
                  <a:txBody>
                    <a:bodyPr/>
                    <a:lstStyle/>
                    <a:p>
                      <a:r>
                        <a:rPr lang="en-US" dirty="0"/>
                        <a:t>500</a:t>
                      </a:r>
                    </a:p>
                  </a:txBody>
                  <a:tcPr/>
                </a:tc>
                <a:tc>
                  <a:txBody>
                    <a:bodyPr/>
                    <a:lstStyle/>
                    <a:p>
                      <a:r>
                        <a:rPr lang="en-US" dirty="0"/>
                        <a:t>100</a:t>
                      </a:r>
                    </a:p>
                  </a:txBody>
                  <a:tcPr/>
                </a:tc>
                <a:extLst>
                  <a:ext uri="{0D108BD9-81ED-4DB2-BD59-A6C34878D82A}">
                    <a16:rowId xmlns:a16="http://schemas.microsoft.com/office/drawing/2014/main" val="1598269549"/>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DD7679A-4505-2CF4-7C0D-5244D47C3489}"/>
                  </a:ext>
                </a:extLst>
              </p:cNvPr>
              <p:cNvSpPr txBox="1"/>
              <p:nvPr/>
            </p:nvSpPr>
            <p:spPr>
              <a:xfrm>
                <a:off x="609600" y="3878055"/>
                <a:ext cx="6718126" cy="2123658"/>
              </a:xfrm>
              <a:prstGeom prst="rect">
                <a:avLst/>
              </a:prstGeom>
              <a:noFill/>
            </p:spPr>
            <p:txBody>
              <a:bodyPr wrap="square" rtlCol="0">
                <a:spAutoFit/>
              </a:bodyPr>
              <a:lstStyle/>
              <a:p>
                <a:r>
                  <a:rPr lang="en-US" sz="2200" dirty="0"/>
                  <a:t>2. A simple linear regression is fitted to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=20</m:t>
                    </m:r>
                  </m:oMath>
                </a14:m>
                <a:r>
                  <a:rPr lang="en-US" sz="2200" dirty="0"/>
                  <a:t> observations. </a:t>
                </a:r>
                <a:br>
                  <a:rPr lang="en-US" sz="2200" dirty="0"/>
                </a:br>
                <a:r>
                  <a:rPr lang="en-US" sz="2200" dirty="0"/>
                  <a:t>You obtain: </a:t>
                </a:r>
                <a14:m>
                  <m:oMath xmlns:m="http://schemas.openxmlformats.org/officeDocument/2006/math">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𝑚𝑒𝑎𝑛</m:t>
                        </m:r>
                      </m:e>
                    </m:d>
                    <m:r>
                      <a:rPr lang="en-US" sz="2200" b="0" i="1" smtClean="0">
                        <a:latin typeface="Cambria Math" panose="02040503050406030204" pitchFamily="18" charset="0"/>
                      </a:rPr>
                      <m:t>=500, </m:t>
                    </m:r>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𝑓𝑖𝑡</m:t>
                        </m:r>
                      </m:e>
                    </m:d>
                    <m:r>
                      <a:rPr lang="en-US" sz="2200" b="0" i="1" smtClean="0">
                        <a:latin typeface="Cambria Math" panose="02040503050406030204" pitchFamily="18" charset="0"/>
                      </a:rPr>
                      <m:t>=300</m:t>
                    </m:r>
                  </m:oMath>
                </a14:m>
                <a:r>
                  <a:rPr lang="en-US" sz="2200" dirty="0"/>
                  <a:t>. Calculate the </a:t>
                </a:r>
                <a14:m>
                  <m:oMath xmlns:m="http://schemas.openxmlformats.org/officeDocument/2006/math">
                    <m:r>
                      <a:rPr lang="en-US" sz="2200" b="0" i="1" smtClean="0">
                        <a:latin typeface="Cambria Math" panose="02040503050406030204" pitchFamily="18" charset="0"/>
                      </a:rPr>
                      <m:t>𝐹</m:t>
                    </m:r>
                  </m:oMath>
                </a14:m>
                <a:r>
                  <a:rPr lang="en-US" sz="2200" dirty="0"/>
                  <a:t>-statistic and determine whether the regression provides a statistically significant improvement over the mean-only model at </a:t>
                </a:r>
                <a14:m>
                  <m:oMath xmlns:m="http://schemas.openxmlformats.org/officeDocument/2006/math">
                    <m:r>
                      <a:rPr lang="en-US" sz="2200" i="1" smtClean="0">
                        <a:latin typeface="Cambria Math" panose="02040503050406030204" pitchFamily="18" charset="0"/>
                        <a:ea typeface="Cambria Math" panose="02040503050406030204" pitchFamily="18" charset="0"/>
                      </a:rPr>
                      <m:t>𝛼</m:t>
                    </m:r>
                    <m:r>
                      <a:rPr lang="en-US" sz="2200" b="0" i="1" smtClean="0">
                        <a:latin typeface="Cambria Math" panose="02040503050406030204" pitchFamily="18" charset="0"/>
                        <a:ea typeface="Cambria Math" panose="02040503050406030204" pitchFamily="18" charset="0"/>
                      </a:rPr>
                      <m:t>=0.05</m:t>
                    </m:r>
                  </m:oMath>
                </a14:m>
                <a:r>
                  <a:rPr lang="en-US" sz="2200" dirty="0"/>
                  <a:t>.</a:t>
                </a:r>
              </a:p>
            </p:txBody>
          </p:sp>
        </mc:Choice>
        <mc:Fallback xmlns="">
          <p:sp>
            <p:nvSpPr>
              <p:cNvPr id="5" name="TextBox 4">
                <a:extLst>
                  <a:ext uri="{FF2B5EF4-FFF2-40B4-BE49-F238E27FC236}">
                    <a16:creationId xmlns:a16="http://schemas.microsoft.com/office/drawing/2014/main" id="{DDD7679A-4505-2CF4-7C0D-5244D47C3489}"/>
                  </a:ext>
                </a:extLst>
              </p:cNvPr>
              <p:cNvSpPr txBox="1">
                <a:spLocks noRot="1" noChangeAspect="1" noMove="1" noResize="1" noEditPoints="1" noAdjustHandles="1" noChangeArrowheads="1" noChangeShapeType="1" noTextEdit="1"/>
              </p:cNvSpPr>
              <p:nvPr/>
            </p:nvSpPr>
            <p:spPr>
              <a:xfrm>
                <a:off x="609600" y="3878055"/>
                <a:ext cx="6718126" cy="2123658"/>
              </a:xfrm>
              <a:prstGeom prst="rect">
                <a:avLst/>
              </a:prstGeom>
              <a:blipFill>
                <a:blip r:embed="rId3"/>
                <a:stretch>
                  <a:fillRect l="-1323" t="-1786" b="-4762"/>
                </a:stretch>
              </a:blipFill>
            </p:spPr>
            <p:txBody>
              <a:bodyPr/>
              <a:lstStyle/>
              <a:p>
                <a:r>
                  <a:rPr lang="en-US">
                    <a:noFill/>
                  </a:rPr>
                  <a:t> </a:t>
                </a:r>
              </a:p>
            </p:txBody>
          </p:sp>
        </mc:Fallback>
      </mc:AlternateContent>
      <p:pic>
        <p:nvPicPr>
          <p:cNvPr id="6" name="Picture 5" descr="SpongeBob - A quick lesson in advanced algebra">
            <a:extLst>
              <a:ext uri="{FF2B5EF4-FFF2-40B4-BE49-F238E27FC236}">
                <a16:creationId xmlns:a16="http://schemas.microsoft.com/office/drawing/2014/main" id="{C9A0B06A-84FF-3559-E189-D3027C7B0A26}"/>
              </a:ext>
            </a:extLst>
          </p:cNvPr>
          <p:cNvPicPr>
            <a:picLocks noChangeAspect="1"/>
          </p:cNvPicPr>
          <p:nvPr/>
        </p:nvPicPr>
        <p:blipFill>
          <a:blip r:embed="rId4"/>
          <a:stretch>
            <a:fillRect/>
          </a:stretch>
        </p:blipFill>
        <p:spPr>
          <a:xfrm>
            <a:off x="8240317" y="3878055"/>
            <a:ext cx="3361133" cy="2466219"/>
          </a:xfrm>
          <a:prstGeom prst="rect">
            <a:avLst/>
          </a:prstGeom>
        </p:spPr>
      </p:pic>
    </p:spTree>
    <p:extLst>
      <p:ext uri="{BB962C8B-B14F-4D97-AF65-F5344CB8AC3E}">
        <p14:creationId xmlns:p14="http://schemas.microsoft.com/office/powerpoint/2010/main" val="26699051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28803</TotalTime>
  <Words>2356</Words>
  <Application>Microsoft Macintosh PowerPoint</Application>
  <PresentationFormat>Widescreen</PresentationFormat>
  <Paragraphs>183</Paragraphs>
  <Slides>20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Arial</vt:lpstr>
      <vt:lpstr>Calibri</vt:lpstr>
      <vt:lpstr>Calibri Light</vt:lpstr>
      <vt:lpstr>Cambria Math</vt:lpstr>
      <vt:lpstr>Corbel</vt:lpstr>
      <vt:lpstr>Gill Sans Light</vt:lpstr>
      <vt:lpstr>Office Theme</vt:lpstr>
      <vt:lpstr>Unit 5 – Prediction with Simple Linear Regression</vt:lpstr>
      <vt:lpstr>Objectives</vt:lpstr>
      <vt:lpstr>Regression</vt:lpstr>
      <vt:lpstr>Setting the Regression scene</vt:lpstr>
      <vt:lpstr>A Linear Equation</vt:lpstr>
      <vt:lpstr>Solving a linear system of equations</vt:lpstr>
      <vt:lpstr>Why correlation isn’t the whole story</vt:lpstr>
      <vt:lpstr>Fitting a line to the data</vt:lpstr>
      <vt:lpstr>Fitting a line to data : Baseline</vt:lpstr>
      <vt:lpstr>Fitting a line to data : Residuals</vt:lpstr>
      <vt:lpstr>Fitting a line to data : Residuals</vt:lpstr>
      <vt:lpstr>Fitting a line to data : Ordinary Least Squares</vt:lpstr>
      <vt:lpstr>Fitting a line to data : Ordinary Least Squares</vt:lpstr>
      <vt:lpstr>Ordinary Least Squares Regression</vt:lpstr>
      <vt:lpstr>Goodness of fit</vt:lpstr>
      <vt:lpstr>Goodness of fit: R-squared</vt:lpstr>
      <vt:lpstr>Goodness of fit</vt:lpstr>
      <vt:lpstr>Overall significance of fit</vt:lpstr>
      <vt:lpstr>Statistical Significance of Fit</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Introduction</dc:title>
  <dc:creator>Microsoft Office User</dc:creator>
  <cp:lastModifiedBy>Saha Bhowmick, Satadisha</cp:lastModifiedBy>
  <cp:revision>320</cp:revision>
  <cp:lastPrinted>2020-01-23T17:09:43Z</cp:lastPrinted>
  <dcterms:created xsi:type="dcterms:W3CDTF">2018-10-01T12:51:29Z</dcterms:created>
  <dcterms:modified xsi:type="dcterms:W3CDTF">2026-10-15T21:02:56Z</dcterms:modified>
</cp:coreProperties>
</file>